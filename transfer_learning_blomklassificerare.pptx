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6858000" cx="12188950"/>
  <p:notesSz cx="6858000" cy="12188950"/>
  <p:embeddedFontLst>
    <p:embeddedFont>
      <p:font typeface="Century Schoolbook"/>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Z1J8ha4koNL02Tz1FVN0jjDO9+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CenturySchoolbook-bold.fntdata"/><Relationship Id="rId16" Type="http://schemas.openxmlformats.org/officeDocument/2006/relationships/font" Target="fonts/CenturySchoolbook-regular.fntdata"/><Relationship Id="rId5" Type="http://schemas.openxmlformats.org/officeDocument/2006/relationships/slide" Target="slides/slide1.xml"/><Relationship Id="rId19" Type="http://schemas.openxmlformats.org/officeDocument/2006/relationships/font" Target="fonts/CenturySchoolbook-boldItalic.fntdata"/><Relationship Id="rId6" Type="http://schemas.openxmlformats.org/officeDocument/2006/relationships/slide" Target="slides/slide2.xml"/><Relationship Id="rId18" Type="http://schemas.openxmlformats.org/officeDocument/2006/relationships/font" Target="fonts/CenturySchoolbook-italic.fntdata"/><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Foton</c:v>
                </c:pt>
              </c:strCache>
            </c:strRef>
          </c:tx>
          <c:spPr>
            <a:solidFill>
              <a:srgbClr val="2C5F2D"/>
            </a:solidFill>
            <a:effectLst/>
          </c:spPr>
          <c:invertIfNegative val="0"/>
          <c:dLbls>
            <c:numFmt formatCode="#,##0" sourceLinked="0"/>
            <c:txPr>
              <a:bodyPr/>
              <a:lstStyle/>
              <a:p>
                <a:pPr>
                  <a:defRPr b="1" i="0" strike="noStrike" sz="1100" u="none">
                    <a:solidFill>
                      <a:srgbClr val="1E2A1C"/>
                    </a:solidFill>
                    <a:latin typeface="Arial"/>
                  </a:defRPr>
                </a:pPr>
              </a:p>
            </c:txPr>
            <c:showLegendKey val="0"/>
            <c:showVal val="1"/>
            <c:showCatName val="0"/>
            <c:showSerName val="0"/>
            <c:showPercent val="0"/>
            <c:showBubbleSize val="0"/>
            <c:showLeaderLines val="0"/>
          </c:dLbls>
          <c:cat>
            <c:multiLvlStrRef>
              <c:f>Sheet1!$A$2:$A$6</c:f>
              <c:multiLvlStrCache>
                <c:ptCount val="5"/>
                <c:lvl>
                  <c:pt idx="0">
                    <c:v>daisy</c:v>
                  </c:pt>
                  <c:pt idx="1">
                    <c:v>dandelion</c:v>
                  </c:pt>
                  <c:pt idx="2">
                    <c:v>roses</c:v>
                  </c:pt>
                  <c:pt idx="3">
                    <c:v>sunflowers</c:v>
                  </c:pt>
                  <c:pt idx="4">
                    <c:v>tulips</c:v>
                  </c:pt>
                </c:lvl>
              </c:multiLvlStrCache>
            </c:multiLvlStrRef>
          </c:cat>
          <c:val>
            <c:numRef>
              <c:f>Sheet1!$B$2:$B$6</c:f>
              <c:numCache>
                <c:formatCode>General</c:formatCode>
                <c:ptCount val="5"/>
                <c:pt idx="0">
                  <c:v>633</c:v>
                </c:pt>
                <c:pt idx="1">
                  <c:v>898</c:v>
                </c:pt>
                <c:pt idx="2">
                  <c:v>641</c:v>
                </c:pt>
                <c:pt idx="3">
                  <c:v>699</c:v>
                </c:pt>
                <c:pt idx="4">
                  <c:v>799</c:v>
                </c:pt>
              </c:numCache>
            </c:numRef>
          </c:val>
        </c:ser>
        <c:dLbls>
          <c:numFmt formatCode="#,##0" sourceLinked="0"/>
          <c:txPr>
            <a:bodyPr/>
            <a:lstStyle/>
            <a:p>
              <a:pPr>
                <a:defRPr b="1" i="0" strike="noStrike" sz="1100" u="none">
                  <a:solidFill>
                    <a:srgbClr val="1E2A1C"/>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A1C"/>
                </a:solidFill>
                <a:latin typeface="Arial"/>
              </a:defRPr>
            </a:pPr>
            <a:endParaRPr lang="en-US"/>
          </a:p>
        </c:txPr>
        <c:crossAx val="2094734552"/>
        <c:crosses val="autoZero"/>
        <c:auto val="1"/>
        <c:lblAlgn val="ctr"/>
        <c:noMultiLvlLbl val="1"/>
      </c:catAx>
      <c:valAx>
        <c:axId val="2094734552"/>
        <c:scaling>
          <c:orientation val="minMax"/>
          <c:max val="1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Fel</c:v>
                </c:pt>
              </c:strCache>
            </c:strRef>
          </c:tx>
          <c:spPr>
            <a:solidFill>
              <a:srgbClr val="97BC62"/>
            </a:solidFill>
            <a:effectLst/>
          </c:spPr>
          <c:invertIfNegative val="0"/>
          <c:dLbls>
            <c:numFmt formatCode="#,##0" sourceLinked="0"/>
            <c:txPr>
              <a:bodyPr/>
              <a:lstStyle/>
              <a:p>
                <a:pPr>
                  <a:defRPr b="1" i="0" strike="noStrike" sz="1500" u="none">
                    <a:solidFill>
                      <a:srgbClr val="1E2A1C"/>
                    </a:solidFill>
                    <a:latin typeface="Arial"/>
                  </a:defRPr>
                </a:pPr>
              </a:p>
            </c:txPr>
            <c:showLegendKey val="0"/>
            <c:showVal val="1"/>
            <c:showCatName val="0"/>
            <c:showSerName val="0"/>
            <c:showPercent val="0"/>
            <c:showBubbleSize val="0"/>
            <c:showLeaderLines val="0"/>
          </c:dLbls>
          <c:dPt>
            <c:idx val="0"/>
            <c:invertIfNegative val="0"/>
            <c:bubble3D val="0"/>
            <c:spPr>
              <a:solidFill>
                <a:srgbClr val="97BC62"/>
              </a:solidFill>
              <a:effectLst/>
            </c:spPr>
          </c:dPt>
          <c:dPt>
            <c:idx val="1"/>
            <c:invertIfNegative val="0"/>
            <c:bubble3D val="0"/>
            <c:spPr>
              <a:solidFill>
                <a:srgbClr val="2C5F2D"/>
              </a:solidFill>
              <a:effectLst/>
            </c:spPr>
          </c:dPt>
          <c:dPt>
            <c:idx val="2"/>
            <c:invertIfNegative val="0"/>
            <c:bubble3D val="0"/>
            <c:spPr>
              <a:solidFill>
                <a:srgbClr val="2C5F2D"/>
              </a:solidFill>
              <a:effectLst/>
            </c:spPr>
          </c:dPt>
          <c:cat>
            <c:multiLvlStrRef>
              <c:f>Sheet1!$A$2:$A$4</c:f>
              <c:multiLvlStrCache>
                <c:ptCount val="3"/>
                <c:lvl>
                  <c:pt idx="0">
                    <c:v>MobileNetV2
12+10 epoker</c:v>
                  </c:pt>
                  <c:pt idx="1">
                    <c:v>EfficientNetV2B0 + label smoothing
12+12</c:v>
                  </c:pt>
                  <c:pt idx="2">
                    <c:v>EfficientNetV2B0
12+22</c:v>
                  </c:pt>
                </c:lvl>
              </c:multiLvlStrCache>
            </c:multiLvlStrRef>
          </c:cat>
          <c:val>
            <c:numRef>
              <c:f>Sheet1!$B$2:$B$4</c:f>
              <c:numCache>
                <c:formatCode>General</c:formatCode>
                <c:ptCount val="3"/>
                <c:pt idx="0">
                  <c:v>43</c:v>
                </c:pt>
                <c:pt idx="1">
                  <c:v>26</c:v>
                </c:pt>
                <c:pt idx="2">
                  <c:v>24</c:v>
                </c:pt>
              </c:numCache>
            </c:numRef>
          </c:val>
        </c:ser>
        <c:dLbls>
          <c:numFmt formatCode="#,##0" sourceLinked="0"/>
          <c:txPr>
            <a:bodyPr/>
            <a:lstStyle/>
            <a:p>
              <a:pPr>
                <a:defRPr b="1" i="0" strike="noStrike" sz="1500" u="none">
                  <a:solidFill>
                    <a:srgbClr val="1E2A1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E2A1C"/>
                </a:solidFill>
                <a:latin typeface="Arial"/>
              </a:defRPr>
            </a:pPr>
            <a:endParaRPr lang="en-US"/>
          </a:p>
        </c:txPr>
        <c:crossAx val="2094734552"/>
        <c:crosses val="autoZero"/>
        <c:auto val="1"/>
        <c:lblAlgn val="ctr"/>
        <c:noMultiLvlLbl val="1"/>
      </c:catAx>
      <c:valAx>
        <c:axId val="2094734552"/>
        <c:scaling>
          <c:orientation val="minMax"/>
          <c:max val="5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Precision</c:v>
                </c:pt>
              </c:strCache>
            </c:strRef>
          </c:tx>
          <c:spPr>
            <a:solidFill>
              <a:srgbClr val="2C5F2D"/>
            </a:solidFill>
            <a:effectLst/>
          </c:spPr>
          <c:invertIfNegative val="0"/>
          <c:dLbls>
            <c:numFmt formatCode="0.00" sourceLinked="0"/>
            <c:txPr>
              <a:bodyPr/>
              <a:lstStyle/>
              <a:p>
                <a:pPr>
                  <a:defRPr b="0" i="0" strike="noStrike" sz="850" u="none">
                    <a:solidFill>
                      <a:srgbClr val="1E2A1C"/>
                    </a:solidFill>
                    <a:latin typeface="Arial"/>
                  </a:defRPr>
                </a:pPr>
              </a:p>
            </c:txPr>
            <c:showLegendKey val="0"/>
            <c:showVal val="1"/>
            <c:showCatName val="0"/>
            <c:showSerName val="0"/>
            <c:showPercent val="0"/>
            <c:showBubbleSize val="0"/>
            <c:showLeaderLines val="0"/>
          </c:dLbls>
          <c:cat>
            <c:multiLvlStrRef>
              <c:f>Sheet1!$A$2:$A$6</c:f>
              <c:multiLvlStrCache>
                <c:ptCount val="5"/>
                <c:lvl>
                  <c:pt idx="0">
                    <c:v>daisy</c:v>
                  </c:pt>
                  <c:pt idx="1">
                    <c:v>dandelion</c:v>
                  </c:pt>
                  <c:pt idx="2">
                    <c:v>roses</c:v>
                  </c:pt>
                  <c:pt idx="3">
                    <c:v>sunflowers</c:v>
                  </c:pt>
                  <c:pt idx="4">
                    <c:v>tulips</c:v>
                  </c:pt>
                </c:lvl>
              </c:multiLvlStrCache>
            </c:multiLvlStrRef>
          </c:cat>
          <c:val>
            <c:numRef>
              <c:f>Sheet1!$B$2:$B$6</c:f>
              <c:numCache>
                <c:formatCode>General</c:formatCode>
                <c:ptCount val="5"/>
                <c:pt idx="0">
                  <c:v>0.967</c:v>
                </c:pt>
                <c:pt idx="1">
                  <c:v>0.976</c:v>
                </c:pt>
                <c:pt idx="2">
                  <c:v>0.903</c:v>
                </c:pt>
                <c:pt idx="3">
                  <c:v>0.974</c:v>
                </c:pt>
                <c:pt idx="4">
                  <c:v>0.954</c:v>
                </c:pt>
              </c:numCache>
            </c:numRef>
          </c:val>
        </c:ser>
        <c:ser>
          <c:idx val="1"/>
          <c:order val="1"/>
          <c:tx>
            <c:strRef>
              <c:f>Sheet1!$C$1</c:f>
              <c:strCache>
                <c:ptCount val="1"/>
                <c:pt idx="0">
                  <c:v>Recall</c:v>
                </c:pt>
              </c:strCache>
            </c:strRef>
          </c:tx>
          <c:spPr>
            <a:solidFill>
              <a:srgbClr val="97BC62"/>
            </a:solidFill>
            <a:effectLst/>
          </c:spPr>
          <c:invertIfNegative val="0"/>
          <c:dLbls>
            <c:numFmt formatCode="0.00" sourceLinked="0"/>
            <c:txPr>
              <a:bodyPr/>
              <a:lstStyle/>
              <a:p>
                <a:pPr>
                  <a:defRPr b="0" i="0" strike="noStrike" sz="850" u="none">
                    <a:solidFill>
                      <a:srgbClr val="1E2A1C"/>
                    </a:solidFill>
                    <a:latin typeface="Arial"/>
                  </a:defRPr>
                </a:pPr>
              </a:p>
            </c:txPr>
            <c:showLegendKey val="0"/>
            <c:showVal val="1"/>
            <c:showCatName val="0"/>
            <c:showSerName val="0"/>
            <c:showPercent val="0"/>
            <c:showBubbleSize val="0"/>
            <c:showLeaderLines val="0"/>
          </c:dLbls>
          <c:cat>
            <c:multiLvlStrRef>
              <c:f>Sheet1!$A$2:$A$6</c:f>
              <c:multiLvlStrCache>
                <c:ptCount val="5"/>
                <c:lvl>
                  <c:pt idx="0">
                    <c:v>daisy</c:v>
                  </c:pt>
                  <c:pt idx="1">
                    <c:v>dandelion</c:v>
                  </c:pt>
                  <c:pt idx="2">
                    <c:v>roses</c:v>
                  </c:pt>
                  <c:pt idx="3">
                    <c:v>sunflowers</c:v>
                  </c:pt>
                  <c:pt idx="4">
                    <c:v>tulips</c:v>
                  </c:pt>
                </c:lvl>
              </c:multiLvlStrCache>
            </c:multiLvlStrRef>
          </c:cat>
          <c:val>
            <c:numRef>
              <c:f>Sheet1!$C$2:$C$6</c:f>
              <c:numCache>
                <c:formatCode>General</c:formatCode>
                <c:ptCount val="5"/>
                <c:pt idx="0">
                  <c:v>0.978</c:v>
                </c:pt>
                <c:pt idx="1">
                  <c:v>0.984</c:v>
                </c:pt>
                <c:pt idx="2">
                  <c:v>0.949</c:v>
                </c:pt>
                <c:pt idx="3">
                  <c:v>0.949</c:v>
                </c:pt>
                <c:pt idx="4">
                  <c:v>0.92</c:v>
                </c:pt>
              </c:numCache>
            </c:numRef>
          </c:val>
        </c:ser>
        <c:dLbls>
          <c:numFmt formatCode="0.00" sourceLinked="0"/>
          <c:txPr>
            <a:bodyPr/>
            <a:lstStyle/>
            <a:p>
              <a:pPr>
                <a:defRPr b="0" i="0" strike="noStrike" sz="850" u="none">
                  <a:solidFill>
                    <a:srgbClr val="1E2A1C"/>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A1C"/>
                </a:solidFill>
                <a:latin typeface="Arial"/>
              </a:defRPr>
            </a:pPr>
            <a:endParaRPr lang="en-US"/>
          </a:p>
        </c:txPr>
        <c:crossAx val="2094734552"/>
        <c:crosses val="autoZero"/>
        <c:auto val="1"/>
        <c:lblAlgn val="ctr"/>
        <c:noMultiLvlLbl val="1"/>
      </c:catAx>
      <c:valAx>
        <c:axId val="2094734552"/>
        <c:scaling>
          <c:orientation val="minMax"/>
          <c:max val="1.02"/>
          <c:min val="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E2A1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 name="Google Shape;3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26.png"/><Relationship Id="rId7" Type="http://schemas.openxmlformats.org/officeDocument/2006/relationships/image" Target="../media/image3.png"/><Relationship Id="rId8"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33.png"/><Relationship Id="rId6"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14.png"/><Relationship Id="rId5"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31A"/>
        </a:solidFill>
      </p:bgPr>
    </p:bg>
    <p:spTree>
      <p:nvGrpSpPr>
        <p:cNvPr id="15" name="Shape 15"/>
        <p:cNvGrpSpPr/>
        <p:nvPr/>
      </p:nvGrpSpPr>
      <p:grpSpPr>
        <a:xfrm>
          <a:off x="0" y="0"/>
          <a:ext cx="0" cy="0"/>
          <a:chOff x="0" y="0"/>
          <a:chExt cx="0" cy="0"/>
        </a:xfrm>
      </p:grpSpPr>
      <p:sp>
        <p:nvSpPr>
          <p:cNvPr id="16" name="Google Shape;16;p1"/>
          <p:cNvSpPr/>
          <p:nvPr/>
        </p:nvSpPr>
        <p:spPr>
          <a:xfrm>
            <a:off x="9509760" y="-1097280"/>
            <a:ext cx="4206240" cy="420624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10881360" y="3108960"/>
            <a:ext cx="2926080" cy="2926080"/>
          </a:xfrm>
          <a:prstGeom prst="ellipse">
            <a:avLst/>
          </a:prstGeom>
          <a:solidFill>
            <a:srgbClr val="1F43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 name="Google Shape;18;p1"/>
          <p:cNvPicPr preferRelativeResize="0"/>
          <p:nvPr/>
        </p:nvPicPr>
        <p:blipFill rotWithShape="1">
          <a:blip r:embed="rId3">
            <a:alphaModFix/>
          </a:blip>
          <a:srcRect b="0" l="0" r="0" t="0"/>
          <a:stretch/>
        </p:blipFill>
        <p:spPr>
          <a:xfrm>
            <a:off x="10561320" y="640080"/>
            <a:ext cx="1554480" cy="1554480"/>
          </a:xfrm>
          <a:prstGeom prst="rect">
            <a:avLst/>
          </a:prstGeom>
          <a:noFill/>
          <a:ln>
            <a:noFill/>
          </a:ln>
        </p:spPr>
      </p:pic>
      <p:sp>
        <p:nvSpPr>
          <p:cNvPr id="19" name="Google Shape;19;p1"/>
          <p:cNvSpPr/>
          <p:nvPr/>
        </p:nvSpPr>
        <p:spPr>
          <a:xfrm>
            <a:off x="685800" y="1417320"/>
            <a:ext cx="8686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7BC62"/>
              </a:buClr>
              <a:buSzPts val="1400"/>
              <a:buFont typeface="Calibri"/>
              <a:buNone/>
            </a:pPr>
            <a:r>
              <a:rPr b="1" i="0" lang="en-US" sz="1400" u="none" cap="none" strike="noStrike">
                <a:solidFill>
                  <a:srgbClr val="97BC62"/>
                </a:solidFill>
                <a:latin typeface="Calibri"/>
                <a:ea typeface="Calibri"/>
                <a:cs typeface="Calibri"/>
                <a:sym typeface="Calibri"/>
              </a:rPr>
              <a:t>TRANSFER LEARNING · BILDKLASSIFICERING</a:t>
            </a:r>
            <a:endParaRPr b="0" i="0" sz="1400" u="none" cap="none" strike="noStrike">
              <a:solidFill>
                <a:schemeClr val="dk1"/>
              </a:solidFill>
              <a:latin typeface="Calibri"/>
              <a:ea typeface="Calibri"/>
              <a:cs typeface="Calibri"/>
              <a:sym typeface="Calibri"/>
            </a:endParaRPr>
          </a:p>
        </p:txBody>
      </p:sp>
      <p:sp>
        <p:nvSpPr>
          <p:cNvPr id="20" name="Google Shape;20;p1"/>
          <p:cNvSpPr/>
          <p:nvPr/>
        </p:nvSpPr>
        <p:spPr>
          <a:xfrm>
            <a:off x="658368" y="1828800"/>
            <a:ext cx="8778240" cy="1828800"/>
          </a:xfrm>
          <a:prstGeom prst="rect">
            <a:avLst/>
          </a:prstGeom>
          <a:noFill/>
          <a:ln>
            <a:noFill/>
          </a:ln>
        </p:spPr>
        <p:txBody>
          <a:bodyPr anchorCtr="0" anchor="ctr" bIns="45700" lIns="91425" spcFirstLastPara="1" rIns="91425" wrap="square" tIns="45700">
            <a:noAutofit/>
          </a:bodyPr>
          <a:lstStyle/>
          <a:p>
            <a:pPr indent="0" lvl="0" marL="0" marR="0" rtl="0" algn="l">
              <a:lnSpc>
                <a:spcPct val="102000"/>
              </a:lnSpc>
              <a:spcBef>
                <a:spcPts val="0"/>
              </a:spcBef>
              <a:spcAft>
                <a:spcPts val="0"/>
              </a:spcAft>
              <a:buClr>
                <a:srgbClr val="FFFFFF"/>
              </a:buClr>
              <a:buSzPts val="4400"/>
              <a:buFont typeface="Century Schoolbook"/>
              <a:buNone/>
            </a:pPr>
            <a:r>
              <a:rPr b="1" i="0" lang="en-US" sz="4400" u="none" cap="none" strike="noStrike">
                <a:solidFill>
                  <a:srgbClr val="FFFFFF"/>
                </a:solidFill>
                <a:latin typeface="Century Schoolbook"/>
                <a:ea typeface="Century Schoolbook"/>
                <a:cs typeface="Century Schoolbook"/>
                <a:sym typeface="Century Schoolbook"/>
              </a:rPr>
              <a:t>Att känna igen blommor</a:t>
            </a:r>
            <a:endParaRPr b="0" i="0" sz="44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FFFFFF"/>
              </a:buClr>
              <a:buSzPts val="4400"/>
              <a:buFont typeface="Century Schoolbook"/>
              <a:buNone/>
            </a:pPr>
            <a:r>
              <a:rPr b="1" i="0" lang="en-US" sz="4400" u="none" cap="none" strike="noStrike">
                <a:solidFill>
                  <a:srgbClr val="FFFFFF"/>
                </a:solidFill>
                <a:latin typeface="Century Schoolbook"/>
                <a:ea typeface="Century Schoolbook"/>
                <a:cs typeface="Century Schoolbook"/>
                <a:sym typeface="Century Schoolbook"/>
              </a:rPr>
              <a:t>utan att träna från noll</a:t>
            </a:r>
            <a:endParaRPr b="0" i="0" sz="4400" u="none" cap="none" strike="noStrike">
              <a:solidFill>
                <a:schemeClr val="dk1"/>
              </a:solidFill>
              <a:latin typeface="Calibri"/>
              <a:ea typeface="Calibri"/>
              <a:cs typeface="Calibri"/>
              <a:sym typeface="Calibri"/>
            </a:endParaRPr>
          </a:p>
        </p:txBody>
      </p:sp>
      <p:sp>
        <p:nvSpPr>
          <p:cNvPr id="21" name="Google Shape;21;p1"/>
          <p:cNvSpPr/>
          <p:nvPr/>
        </p:nvSpPr>
        <p:spPr>
          <a:xfrm>
            <a:off x="685800" y="3794760"/>
            <a:ext cx="795528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C9D6C2"/>
              </a:buClr>
              <a:buSzPts val="1600"/>
              <a:buFont typeface="Calibri"/>
              <a:buNone/>
            </a:pPr>
            <a:r>
              <a:rPr b="0" i="0" lang="en-US" sz="1600" u="none" cap="none" strike="noStrike">
                <a:solidFill>
                  <a:srgbClr val="C9D6C2"/>
                </a:solidFill>
                <a:latin typeface="Calibri"/>
                <a:ea typeface="Calibri"/>
                <a:cs typeface="Calibri"/>
                <a:sym typeface="Calibri"/>
              </a:rPr>
              <a:t>En bildklassificerare som lär sig 5 blomarter genom att återanvända en modell tränad på miljontals bilder.</a:t>
            </a:r>
            <a:endParaRPr b="0" i="0" sz="1600" u="none" cap="none" strike="noStrike">
              <a:solidFill>
                <a:schemeClr val="dk1"/>
              </a:solidFill>
              <a:latin typeface="Calibri"/>
              <a:ea typeface="Calibri"/>
              <a:cs typeface="Calibri"/>
              <a:sym typeface="Calibri"/>
            </a:endParaRPr>
          </a:p>
        </p:txBody>
      </p:sp>
      <p:sp>
        <p:nvSpPr>
          <p:cNvPr id="22" name="Google Shape;22;p1"/>
          <p:cNvSpPr/>
          <p:nvPr/>
        </p:nvSpPr>
        <p:spPr>
          <a:xfrm>
            <a:off x="685800" y="4892040"/>
            <a:ext cx="1540764" cy="502920"/>
          </a:xfrm>
          <a:prstGeom prst="roundRect">
            <a:avLst>
              <a:gd fmla="val 49091" name="adj"/>
            </a:avLst>
          </a:prstGeom>
          <a:solidFill>
            <a:srgbClr val="1F432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685800" y="4892040"/>
            <a:ext cx="1540764"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7BC62"/>
              </a:buClr>
              <a:buSzPts val="1350"/>
              <a:buFont typeface="Calibri"/>
              <a:buNone/>
            </a:pPr>
            <a:r>
              <a:rPr b="1" i="0" lang="en-US" sz="1350" u="none" cap="none" strike="noStrike">
                <a:solidFill>
                  <a:srgbClr val="97BC62"/>
                </a:solidFill>
                <a:latin typeface="Calibri"/>
                <a:ea typeface="Calibri"/>
                <a:cs typeface="Calibri"/>
                <a:sym typeface="Calibri"/>
              </a:rPr>
              <a:t>5 blomarter</a:t>
            </a:r>
            <a:endParaRPr b="0" i="0" sz="1350" u="none" cap="none" strike="noStrike">
              <a:solidFill>
                <a:schemeClr val="dk1"/>
              </a:solidFill>
              <a:latin typeface="Calibri"/>
              <a:ea typeface="Calibri"/>
              <a:cs typeface="Calibri"/>
              <a:sym typeface="Calibri"/>
            </a:endParaRPr>
          </a:p>
        </p:txBody>
      </p:sp>
      <p:sp>
        <p:nvSpPr>
          <p:cNvPr id="24" name="Google Shape;24;p1"/>
          <p:cNvSpPr/>
          <p:nvPr/>
        </p:nvSpPr>
        <p:spPr>
          <a:xfrm>
            <a:off x="2427732" y="4892040"/>
            <a:ext cx="2066544" cy="502920"/>
          </a:xfrm>
          <a:prstGeom prst="roundRect">
            <a:avLst>
              <a:gd fmla="val 49091" name="adj"/>
            </a:avLst>
          </a:prstGeom>
          <a:solidFill>
            <a:srgbClr val="1F432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2427732" y="4892040"/>
            <a:ext cx="2066544"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7BC62"/>
              </a:buClr>
              <a:buSzPts val="1350"/>
              <a:buFont typeface="Calibri"/>
              <a:buNone/>
            </a:pPr>
            <a:r>
              <a:rPr b="1" i="0" lang="en-US" sz="1350" u="none" cap="none" strike="noStrike">
                <a:solidFill>
                  <a:srgbClr val="97BC62"/>
                </a:solidFill>
                <a:latin typeface="Calibri"/>
                <a:ea typeface="Calibri"/>
                <a:cs typeface="Calibri"/>
                <a:sym typeface="Calibri"/>
              </a:rPr>
              <a:t>EfficientNetV2B0</a:t>
            </a:r>
            <a:endParaRPr b="0" i="0" sz="1350" u="none" cap="none" strike="noStrike">
              <a:solidFill>
                <a:schemeClr val="dk1"/>
              </a:solidFill>
              <a:latin typeface="Calibri"/>
              <a:ea typeface="Calibri"/>
              <a:cs typeface="Calibri"/>
              <a:sym typeface="Calibri"/>
            </a:endParaRPr>
          </a:p>
        </p:txBody>
      </p:sp>
      <p:sp>
        <p:nvSpPr>
          <p:cNvPr id="26" name="Google Shape;26;p1"/>
          <p:cNvSpPr/>
          <p:nvPr/>
        </p:nvSpPr>
        <p:spPr>
          <a:xfrm>
            <a:off x="4695444" y="4892040"/>
            <a:ext cx="2487168" cy="502920"/>
          </a:xfrm>
          <a:prstGeom prst="roundRect">
            <a:avLst>
              <a:gd fmla="val 49091" name="adj"/>
            </a:avLst>
          </a:prstGeom>
          <a:solidFill>
            <a:srgbClr val="1F4322"/>
          </a:solidFill>
          <a:ln cap="flat" cmpd="sng" w="12700">
            <a:solidFill>
              <a:srgbClr val="97BC6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4695444" y="4892040"/>
            <a:ext cx="2487168" cy="5029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7BC62"/>
              </a:buClr>
              <a:buSzPts val="1350"/>
              <a:buFont typeface="Calibri"/>
              <a:buNone/>
            </a:pPr>
            <a:r>
              <a:rPr b="1" i="0" lang="en-US" sz="1350" u="none" cap="none" strike="noStrike">
                <a:solidFill>
                  <a:srgbClr val="97BC62"/>
                </a:solidFill>
                <a:latin typeface="Calibri"/>
                <a:ea typeface="Calibri"/>
                <a:cs typeface="Calibri"/>
                <a:sym typeface="Calibri"/>
              </a:rPr>
              <a:t>95,6 % träffsäkerhet</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 name="Shape 32"/>
        <p:cNvGrpSpPr/>
        <p:nvPr/>
      </p:nvGrpSpPr>
      <p:grpSpPr>
        <a:xfrm>
          <a:off x="0" y="0"/>
          <a:ext cx="0" cy="0"/>
          <a:chOff x="0" y="0"/>
          <a:chExt cx="0" cy="0"/>
        </a:xfrm>
      </p:grpSpPr>
      <p:sp>
        <p:nvSpPr>
          <p:cNvPr id="33" name="Google Shape;33;p2"/>
          <p:cNvSpPr/>
          <p:nvPr/>
        </p:nvSpPr>
        <p:spPr>
          <a:xfrm>
            <a:off x="548640" y="457200"/>
            <a:ext cx="566928" cy="566928"/>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 name="Google Shape;34;p2"/>
          <p:cNvPicPr preferRelativeResize="0"/>
          <p:nvPr/>
        </p:nvPicPr>
        <p:blipFill rotWithShape="1">
          <a:blip r:embed="rId3">
            <a:alphaModFix/>
          </a:blip>
          <a:srcRect b="0" l="0" r="0" t="0"/>
          <a:stretch/>
        </p:blipFill>
        <p:spPr>
          <a:xfrm>
            <a:off x="622341" y="530901"/>
            <a:ext cx="419527" cy="419527"/>
          </a:xfrm>
          <a:prstGeom prst="rect">
            <a:avLst/>
          </a:prstGeom>
          <a:noFill/>
          <a:ln>
            <a:noFill/>
          </a:ln>
        </p:spPr>
      </p:pic>
      <p:sp>
        <p:nvSpPr>
          <p:cNvPr id="35" name="Google Shape;35;p2"/>
          <p:cNvSpPr/>
          <p:nvPr/>
        </p:nvSpPr>
        <p:spPr>
          <a:xfrm>
            <a:off x="1234440" y="402336"/>
            <a:ext cx="104241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A1C"/>
              </a:buClr>
              <a:buSzPts val="2700"/>
              <a:buFont typeface="Century Schoolbook"/>
              <a:buNone/>
            </a:pPr>
            <a:r>
              <a:rPr b="1" i="0" lang="en-US" sz="2700" u="none" cap="none" strike="noStrike">
                <a:solidFill>
                  <a:srgbClr val="1E2A1C"/>
                </a:solidFill>
                <a:latin typeface="Century Schoolbook"/>
                <a:ea typeface="Century Schoolbook"/>
                <a:cs typeface="Century Schoolbook"/>
                <a:sym typeface="Century Schoolbook"/>
              </a:rPr>
              <a:t>Problemet: känna igen 5 blomarter i verkliga foton</a:t>
            </a:r>
            <a:endParaRPr b="0" i="0" sz="2700" u="none" cap="none" strike="noStrike">
              <a:solidFill>
                <a:schemeClr val="dk1"/>
              </a:solidFill>
              <a:latin typeface="Calibri"/>
              <a:ea typeface="Calibri"/>
              <a:cs typeface="Calibri"/>
              <a:sym typeface="Calibri"/>
            </a:endParaRPr>
          </a:p>
        </p:txBody>
      </p:sp>
      <p:sp>
        <p:nvSpPr>
          <p:cNvPr id="36" name="Google Shape;36;p2"/>
          <p:cNvSpPr/>
          <p:nvPr/>
        </p:nvSpPr>
        <p:spPr>
          <a:xfrm>
            <a:off x="548640" y="1371600"/>
            <a:ext cx="5486400" cy="822960"/>
          </a:xfrm>
          <a:prstGeom prst="rect">
            <a:avLst/>
          </a:prstGeom>
          <a:noFill/>
          <a:ln>
            <a:noFill/>
          </a:ln>
        </p:spPr>
        <p:txBody>
          <a:bodyPr anchorCtr="0" anchor="t" bIns="45700" lIns="91425" spcFirstLastPara="1" rIns="91425" wrap="square" tIns="45700">
            <a:noAutofit/>
          </a:bodyPr>
          <a:lstStyle/>
          <a:p>
            <a:pPr indent="0" lvl="0" marL="0" marR="0" rtl="0" algn="l">
              <a:lnSpc>
                <a:spcPct val="112000"/>
              </a:lnSpc>
              <a:spcBef>
                <a:spcPts val="0"/>
              </a:spcBef>
              <a:spcAft>
                <a:spcPts val="0"/>
              </a:spcAft>
              <a:buClr>
                <a:srgbClr val="1E2A1C"/>
              </a:buClr>
              <a:buSzPts val="1550"/>
              <a:buFont typeface="Calibri"/>
              <a:buNone/>
            </a:pPr>
            <a:r>
              <a:rPr b="1" i="0" lang="en-US" sz="1550" u="none" cap="none" strike="noStrike">
                <a:solidFill>
                  <a:srgbClr val="1E2A1C"/>
                </a:solidFill>
                <a:latin typeface="Calibri"/>
                <a:ea typeface="Calibri"/>
                <a:cs typeface="Calibri"/>
                <a:sym typeface="Calibri"/>
              </a:rPr>
              <a:t>En bild in, ett svar ut. </a:t>
            </a:r>
            <a:r>
              <a:rPr b="0" i="0" lang="en-US" sz="1550" u="none" cap="none" strike="noStrike">
                <a:solidFill>
                  <a:srgbClr val="1E2A1C"/>
                </a:solidFill>
                <a:latin typeface="Calibri"/>
                <a:ea typeface="Calibri"/>
                <a:cs typeface="Calibri"/>
                <a:sym typeface="Calibri"/>
              </a:rPr>
              <a:t>Modellen ska avgöra vilken av fem arter ett foto visar</a:t>
            </a:r>
            <a:r>
              <a:rPr lang="en-US" sz="1550">
                <a:solidFill>
                  <a:srgbClr val="1E2A1C"/>
                </a:solidFill>
                <a:latin typeface="Calibri"/>
                <a:ea typeface="Calibri"/>
                <a:cs typeface="Calibri"/>
                <a:sym typeface="Calibri"/>
              </a:rPr>
              <a:t>,</a:t>
            </a:r>
            <a:r>
              <a:rPr b="0" i="0" lang="en-US" sz="1550" u="none" cap="none" strike="noStrike">
                <a:solidFill>
                  <a:srgbClr val="1E2A1C"/>
                </a:solidFill>
                <a:latin typeface="Calibri"/>
                <a:ea typeface="Calibri"/>
                <a:cs typeface="Calibri"/>
                <a:sym typeface="Calibri"/>
              </a:rPr>
              <a:t> enkeletikett, 5-vägs klassificering.</a:t>
            </a:r>
            <a:endParaRPr b="0" i="0" sz="1550" u="none" cap="none" strike="noStrike">
              <a:solidFill>
                <a:schemeClr val="dk1"/>
              </a:solidFill>
              <a:latin typeface="Calibri"/>
              <a:ea typeface="Calibri"/>
              <a:cs typeface="Calibri"/>
              <a:sym typeface="Calibri"/>
            </a:endParaRPr>
          </a:p>
        </p:txBody>
      </p:sp>
      <p:sp>
        <p:nvSpPr>
          <p:cNvPr id="37" name="Google Shape;37;p2"/>
          <p:cNvSpPr/>
          <p:nvPr/>
        </p:nvSpPr>
        <p:spPr>
          <a:xfrm>
            <a:off x="566928" y="2377440"/>
            <a:ext cx="146304" cy="146304"/>
          </a:xfrm>
          <a:prstGeom prst="ellipse">
            <a:avLst/>
          </a:prstGeom>
          <a:solidFill>
            <a:srgbClr val="97BC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841248" y="2212848"/>
            <a:ext cx="516636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2C5F2D"/>
              </a:buClr>
              <a:buSzPts val="1350"/>
              <a:buFont typeface="Calibri"/>
              <a:buNone/>
            </a:pPr>
            <a:r>
              <a:rPr b="1" i="0" lang="en-US" sz="1350" u="none" cap="none" strike="noStrike">
                <a:solidFill>
                  <a:srgbClr val="2C5F2D"/>
                </a:solidFill>
                <a:latin typeface="Calibri"/>
                <a:ea typeface="Calibri"/>
                <a:cs typeface="Calibri"/>
                <a:sym typeface="Calibri"/>
              </a:rPr>
              <a:t>Verkliga Flickr-foton </a:t>
            </a:r>
            <a:r>
              <a:rPr b="0" i="0" lang="en-US" sz="1350" u="none" cap="none" strike="noStrike">
                <a:solidFill>
                  <a:srgbClr val="5B6B58"/>
                </a:solidFill>
                <a:latin typeface="Calibri"/>
                <a:ea typeface="Calibri"/>
                <a:cs typeface="Calibri"/>
                <a:sym typeface="Calibri"/>
              </a:rPr>
              <a:t> blandad upplösning (~160–500 px), varierat ljus, bakgrund och beskärning</a:t>
            </a:r>
            <a:endParaRPr b="0" i="0" sz="1350" u="none" cap="none" strike="noStrike">
              <a:solidFill>
                <a:schemeClr val="dk1"/>
              </a:solidFill>
              <a:latin typeface="Calibri"/>
              <a:ea typeface="Calibri"/>
              <a:cs typeface="Calibri"/>
              <a:sym typeface="Calibri"/>
            </a:endParaRPr>
          </a:p>
        </p:txBody>
      </p:sp>
      <p:sp>
        <p:nvSpPr>
          <p:cNvPr id="39" name="Google Shape;39;p2"/>
          <p:cNvSpPr/>
          <p:nvPr/>
        </p:nvSpPr>
        <p:spPr>
          <a:xfrm>
            <a:off x="566928" y="3163824"/>
            <a:ext cx="146304" cy="146304"/>
          </a:xfrm>
          <a:prstGeom prst="ellipse">
            <a:avLst/>
          </a:prstGeom>
          <a:solidFill>
            <a:srgbClr val="97BC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841248" y="2999232"/>
            <a:ext cx="516636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2C5F2D"/>
              </a:buClr>
              <a:buSzPts val="1350"/>
              <a:buFont typeface="Calibri"/>
              <a:buNone/>
            </a:pPr>
            <a:r>
              <a:rPr b="1" i="0" lang="en-US" sz="1350" u="none" cap="none" strike="noStrike">
                <a:solidFill>
                  <a:srgbClr val="2C5F2D"/>
                </a:solidFill>
                <a:latin typeface="Calibri"/>
                <a:ea typeface="Calibri"/>
                <a:cs typeface="Calibri"/>
                <a:sym typeface="Calibri"/>
              </a:rPr>
              <a:t>Inte rena laboratoriebilder </a:t>
            </a:r>
            <a:r>
              <a:rPr b="0" i="0" lang="en-US" sz="1350" u="none" cap="none" strike="noStrike">
                <a:solidFill>
                  <a:srgbClr val="5B6B58"/>
                </a:solidFill>
                <a:latin typeface="Calibri"/>
                <a:ea typeface="Calibri"/>
                <a:cs typeface="Calibri"/>
                <a:sym typeface="Calibri"/>
              </a:rPr>
              <a:t> arter fotade i trädgårdar, buketter och blandade rabatter</a:t>
            </a:r>
            <a:endParaRPr b="0" i="0" sz="1350" u="none" cap="none" strike="noStrike">
              <a:solidFill>
                <a:schemeClr val="dk1"/>
              </a:solidFill>
              <a:latin typeface="Calibri"/>
              <a:ea typeface="Calibri"/>
              <a:cs typeface="Calibri"/>
              <a:sym typeface="Calibri"/>
            </a:endParaRPr>
          </a:p>
        </p:txBody>
      </p:sp>
      <p:sp>
        <p:nvSpPr>
          <p:cNvPr id="41" name="Google Shape;41;p2"/>
          <p:cNvSpPr/>
          <p:nvPr/>
        </p:nvSpPr>
        <p:spPr>
          <a:xfrm>
            <a:off x="566928" y="3950208"/>
            <a:ext cx="146304" cy="146304"/>
          </a:xfrm>
          <a:prstGeom prst="ellipse">
            <a:avLst/>
          </a:prstGeom>
          <a:solidFill>
            <a:srgbClr val="97BC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841248" y="3785616"/>
            <a:ext cx="516636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2C5F2D"/>
              </a:buClr>
              <a:buSzPts val="1350"/>
              <a:buFont typeface="Calibri"/>
              <a:buNone/>
            </a:pPr>
            <a:r>
              <a:rPr b="1" i="0" lang="en-US" sz="1350" u="none" cap="none" strike="noStrike">
                <a:solidFill>
                  <a:srgbClr val="2C5F2D"/>
                </a:solidFill>
                <a:latin typeface="Calibri"/>
                <a:ea typeface="Calibri"/>
                <a:cs typeface="Calibri"/>
                <a:sym typeface="Calibri"/>
              </a:rPr>
              <a:t>Vissa etiketter är lösa  </a:t>
            </a:r>
            <a:r>
              <a:rPr b="0" i="0" lang="en-US" sz="1350" u="none" cap="none" strike="noStrike">
                <a:solidFill>
                  <a:srgbClr val="5B6B58"/>
                </a:solidFill>
                <a:latin typeface="Calibri"/>
                <a:ea typeface="Calibri"/>
                <a:cs typeface="Calibri"/>
                <a:sym typeface="Calibri"/>
              </a:rPr>
              <a:t>breda trädgårdsscener taggade ”tulpaner”</a:t>
            </a:r>
            <a:r>
              <a:rPr lang="en-US" sz="1350">
                <a:solidFill>
                  <a:srgbClr val="5B6B58"/>
                </a:solidFill>
                <a:latin typeface="Calibri"/>
                <a:ea typeface="Calibri"/>
                <a:cs typeface="Calibri"/>
                <a:sym typeface="Calibri"/>
              </a:rPr>
              <a:t>, </a:t>
            </a:r>
            <a:r>
              <a:rPr b="0" i="0" lang="en-US" sz="1350" u="none" cap="none" strike="noStrike">
                <a:solidFill>
                  <a:srgbClr val="5B6B58"/>
                </a:solidFill>
                <a:latin typeface="Calibri"/>
                <a:ea typeface="Calibri"/>
                <a:cs typeface="Calibri"/>
                <a:sym typeface="Calibri"/>
              </a:rPr>
              <a:t>därför är ~95 % taket i praktiken</a:t>
            </a:r>
            <a:endParaRPr b="0" i="0" sz="1350" u="none" cap="none" strike="noStrike">
              <a:solidFill>
                <a:schemeClr val="dk1"/>
              </a:solidFill>
              <a:latin typeface="Calibri"/>
              <a:ea typeface="Calibri"/>
              <a:cs typeface="Calibri"/>
              <a:sym typeface="Calibri"/>
            </a:endParaRPr>
          </a:p>
        </p:txBody>
      </p:sp>
      <p:sp>
        <p:nvSpPr>
          <p:cNvPr id="43" name="Google Shape;43;p2"/>
          <p:cNvSpPr/>
          <p:nvPr/>
        </p:nvSpPr>
        <p:spPr>
          <a:xfrm>
            <a:off x="548640" y="5074920"/>
            <a:ext cx="1755648" cy="1234440"/>
          </a:xfrm>
          <a:prstGeom prst="roundRect">
            <a:avLst>
              <a:gd fmla="val 6667"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48640" y="5230368"/>
            <a:ext cx="1755648"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C5F2D"/>
              </a:buClr>
              <a:buSzPts val="2600"/>
              <a:buFont typeface="Century Schoolbook"/>
              <a:buNone/>
            </a:pPr>
            <a:r>
              <a:rPr b="1" i="0" lang="en-US" sz="2600" u="none" cap="none" strike="noStrike">
                <a:solidFill>
                  <a:srgbClr val="2C5F2D"/>
                </a:solidFill>
                <a:latin typeface="Century Schoolbook"/>
                <a:ea typeface="Century Schoolbook"/>
                <a:cs typeface="Century Schoolbook"/>
                <a:sym typeface="Century Schoolbook"/>
              </a:rPr>
              <a:t>3 670</a:t>
            </a:r>
            <a:endParaRPr b="0" i="0" sz="2600" u="none" cap="none" strike="noStrike">
              <a:solidFill>
                <a:schemeClr val="dk1"/>
              </a:solidFill>
              <a:latin typeface="Calibri"/>
              <a:ea typeface="Calibri"/>
              <a:cs typeface="Calibri"/>
              <a:sym typeface="Calibri"/>
            </a:endParaRPr>
          </a:p>
        </p:txBody>
      </p:sp>
      <p:sp>
        <p:nvSpPr>
          <p:cNvPr id="45" name="Google Shape;45;p2"/>
          <p:cNvSpPr/>
          <p:nvPr/>
        </p:nvSpPr>
        <p:spPr>
          <a:xfrm>
            <a:off x="548640" y="5870448"/>
            <a:ext cx="17556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58"/>
              </a:buClr>
              <a:buSzPts val="1250"/>
              <a:buFont typeface="Calibri"/>
              <a:buNone/>
            </a:pPr>
            <a:r>
              <a:rPr b="0" i="0" lang="en-US" sz="1250" u="none" cap="none" strike="noStrike">
                <a:solidFill>
                  <a:srgbClr val="5B6B58"/>
                </a:solidFill>
                <a:latin typeface="Calibri"/>
                <a:ea typeface="Calibri"/>
                <a:cs typeface="Calibri"/>
                <a:sym typeface="Calibri"/>
              </a:rPr>
              <a:t>foton</a:t>
            </a:r>
            <a:endParaRPr b="0" i="0" sz="1250" u="none" cap="none" strike="noStrike">
              <a:solidFill>
                <a:schemeClr val="dk1"/>
              </a:solidFill>
              <a:latin typeface="Calibri"/>
              <a:ea typeface="Calibri"/>
              <a:cs typeface="Calibri"/>
              <a:sym typeface="Calibri"/>
            </a:endParaRPr>
          </a:p>
        </p:txBody>
      </p:sp>
      <p:sp>
        <p:nvSpPr>
          <p:cNvPr id="46" name="Google Shape;46;p2"/>
          <p:cNvSpPr/>
          <p:nvPr/>
        </p:nvSpPr>
        <p:spPr>
          <a:xfrm>
            <a:off x="2432304" y="5074920"/>
            <a:ext cx="1755648" cy="1234440"/>
          </a:xfrm>
          <a:prstGeom prst="roundRect">
            <a:avLst>
              <a:gd fmla="val 6667"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2432304" y="5230368"/>
            <a:ext cx="1755648"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C5F2D"/>
              </a:buClr>
              <a:buSzPts val="2600"/>
              <a:buFont typeface="Century Schoolbook"/>
              <a:buNone/>
            </a:pPr>
            <a:r>
              <a:rPr b="1" i="0" lang="en-US" sz="2600" u="none" cap="none" strike="noStrike">
                <a:solidFill>
                  <a:srgbClr val="2C5F2D"/>
                </a:solidFill>
                <a:latin typeface="Century Schoolbook"/>
                <a:ea typeface="Century Schoolbook"/>
                <a:cs typeface="Century Schoolbook"/>
                <a:sym typeface="Century Schoolbook"/>
              </a:rPr>
              <a:t>5</a:t>
            </a:r>
            <a:endParaRPr b="0" i="0" sz="2600" u="none" cap="none" strike="noStrike">
              <a:solidFill>
                <a:schemeClr val="dk1"/>
              </a:solidFill>
              <a:latin typeface="Calibri"/>
              <a:ea typeface="Calibri"/>
              <a:cs typeface="Calibri"/>
              <a:sym typeface="Calibri"/>
            </a:endParaRPr>
          </a:p>
        </p:txBody>
      </p:sp>
      <p:sp>
        <p:nvSpPr>
          <p:cNvPr id="48" name="Google Shape;48;p2"/>
          <p:cNvSpPr/>
          <p:nvPr/>
        </p:nvSpPr>
        <p:spPr>
          <a:xfrm>
            <a:off x="2432304" y="5870448"/>
            <a:ext cx="17556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58"/>
              </a:buClr>
              <a:buSzPts val="1250"/>
              <a:buFont typeface="Calibri"/>
              <a:buNone/>
            </a:pPr>
            <a:r>
              <a:rPr b="0" i="0" lang="en-US" sz="1250" u="none" cap="none" strike="noStrike">
                <a:solidFill>
                  <a:srgbClr val="5B6B58"/>
                </a:solidFill>
                <a:latin typeface="Calibri"/>
                <a:ea typeface="Calibri"/>
                <a:cs typeface="Calibri"/>
                <a:sym typeface="Calibri"/>
              </a:rPr>
              <a:t>klasser</a:t>
            </a:r>
            <a:endParaRPr b="0" i="0" sz="1250" u="none" cap="none" strike="noStrike">
              <a:solidFill>
                <a:schemeClr val="dk1"/>
              </a:solidFill>
              <a:latin typeface="Calibri"/>
              <a:ea typeface="Calibri"/>
              <a:cs typeface="Calibri"/>
              <a:sym typeface="Calibri"/>
            </a:endParaRPr>
          </a:p>
        </p:txBody>
      </p:sp>
      <p:sp>
        <p:nvSpPr>
          <p:cNvPr id="49" name="Google Shape;49;p2"/>
          <p:cNvSpPr/>
          <p:nvPr/>
        </p:nvSpPr>
        <p:spPr>
          <a:xfrm>
            <a:off x="4315968" y="5074920"/>
            <a:ext cx="1755648" cy="1234440"/>
          </a:xfrm>
          <a:prstGeom prst="roundRect">
            <a:avLst>
              <a:gd fmla="val 6667"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4315968" y="5230368"/>
            <a:ext cx="1755648"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2C5F2D"/>
              </a:buClr>
              <a:buSzPts val="2600"/>
              <a:buFont typeface="Century Schoolbook"/>
              <a:buNone/>
            </a:pPr>
            <a:r>
              <a:rPr b="1" i="0" lang="en-US" sz="2600" u="none" cap="none" strike="noStrike">
                <a:solidFill>
                  <a:srgbClr val="2C5F2D"/>
                </a:solidFill>
                <a:latin typeface="Century Schoolbook"/>
                <a:ea typeface="Century Schoolbook"/>
                <a:cs typeface="Century Schoolbook"/>
                <a:sym typeface="Century Schoolbook"/>
              </a:rPr>
              <a:t>70/15/15</a:t>
            </a:r>
            <a:endParaRPr b="0" i="0" sz="2600" u="none" cap="none" strike="noStrike">
              <a:solidFill>
                <a:schemeClr val="dk1"/>
              </a:solidFill>
              <a:latin typeface="Calibri"/>
              <a:ea typeface="Calibri"/>
              <a:cs typeface="Calibri"/>
              <a:sym typeface="Calibri"/>
            </a:endParaRPr>
          </a:p>
        </p:txBody>
      </p:sp>
      <p:sp>
        <p:nvSpPr>
          <p:cNvPr id="51" name="Google Shape;51;p2"/>
          <p:cNvSpPr/>
          <p:nvPr/>
        </p:nvSpPr>
        <p:spPr>
          <a:xfrm>
            <a:off x="4315968" y="5870448"/>
            <a:ext cx="17556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58"/>
              </a:buClr>
              <a:buSzPts val="1250"/>
              <a:buFont typeface="Calibri"/>
              <a:buNone/>
            </a:pPr>
            <a:r>
              <a:rPr b="0" i="0" lang="en-US" sz="1250" u="none" cap="none" strike="noStrike">
                <a:solidFill>
                  <a:srgbClr val="5B6B58"/>
                </a:solidFill>
                <a:latin typeface="Calibri"/>
                <a:ea typeface="Calibri"/>
                <a:cs typeface="Calibri"/>
                <a:sym typeface="Calibri"/>
              </a:rPr>
              <a:t>träna/val/test</a:t>
            </a:r>
            <a:endParaRPr b="0" i="0" sz="1250" u="none" cap="none" strike="noStrike">
              <a:solidFill>
                <a:schemeClr val="dk1"/>
              </a:solidFill>
              <a:latin typeface="Calibri"/>
              <a:ea typeface="Calibri"/>
              <a:cs typeface="Calibri"/>
              <a:sym typeface="Calibri"/>
            </a:endParaRPr>
          </a:p>
        </p:txBody>
      </p:sp>
      <p:sp>
        <p:nvSpPr>
          <p:cNvPr id="52" name="Google Shape;52;p2"/>
          <p:cNvSpPr/>
          <p:nvPr/>
        </p:nvSpPr>
        <p:spPr>
          <a:xfrm>
            <a:off x="6400800" y="1325880"/>
            <a:ext cx="54864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58"/>
              </a:buClr>
              <a:buSzPts val="1300"/>
              <a:buFont typeface="Calibri"/>
              <a:buNone/>
            </a:pPr>
            <a:r>
              <a:rPr b="1" i="0" lang="en-US" sz="1300" u="none" cap="none" strike="noStrike">
                <a:solidFill>
                  <a:srgbClr val="5B6B58"/>
                </a:solidFill>
                <a:latin typeface="Calibri"/>
                <a:ea typeface="Calibri"/>
                <a:cs typeface="Calibri"/>
                <a:sym typeface="Calibri"/>
              </a:rPr>
              <a:t>Foton per klass</a:t>
            </a:r>
            <a:endParaRPr b="0" i="0" sz="1300" u="none" cap="none" strike="noStrike">
              <a:solidFill>
                <a:schemeClr val="dk1"/>
              </a:solidFill>
              <a:latin typeface="Calibri"/>
              <a:ea typeface="Calibri"/>
              <a:cs typeface="Calibri"/>
              <a:sym typeface="Calibri"/>
            </a:endParaRPr>
          </a:p>
        </p:txBody>
      </p:sp>
      <p:graphicFrame>
        <p:nvGraphicFramePr>
          <p:cNvPr id="53" name="Google Shape;53;p2"/>
          <p:cNvGraphicFramePr/>
          <p:nvPr/>
        </p:nvGraphicFramePr>
        <p:xfrm>
          <a:off x="6263640" y="1600200"/>
          <a:ext cx="5623560" cy="4709160"/>
        </p:xfrm>
        <a:graphic>
          <a:graphicData uri="http://schemas.openxmlformats.org/drawingml/2006/chart">
            <c:chart r:id="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3"/>
          <p:cNvSpPr/>
          <p:nvPr/>
        </p:nvSpPr>
        <p:spPr>
          <a:xfrm>
            <a:off x="548640" y="457200"/>
            <a:ext cx="566928" cy="566928"/>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0" name="Google Shape;60;p3"/>
          <p:cNvPicPr preferRelativeResize="0"/>
          <p:nvPr/>
        </p:nvPicPr>
        <p:blipFill rotWithShape="1">
          <a:blip r:embed="rId3">
            <a:alphaModFix/>
          </a:blip>
          <a:srcRect b="0" l="0" r="0" t="0"/>
          <a:stretch/>
        </p:blipFill>
        <p:spPr>
          <a:xfrm>
            <a:off x="622341" y="530901"/>
            <a:ext cx="419527" cy="419527"/>
          </a:xfrm>
          <a:prstGeom prst="rect">
            <a:avLst/>
          </a:prstGeom>
          <a:noFill/>
          <a:ln>
            <a:noFill/>
          </a:ln>
        </p:spPr>
      </p:pic>
      <p:sp>
        <p:nvSpPr>
          <p:cNvPr id="61" name="Google Shape;61;p3"/>
          <p:cNvSpPr/>
          <p:nvPr/>
        </p:nvSpPr>
        <p:spPr>
          <a:xfrm>
            <a:off x="1234440" y="402336"/>
            <a:ext cx="104241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A1C"/>
              </a:buClr>
              <a:buSzPts val="2700"/>
              <a:buFont typeface="Century Schoolbook"/>
              <a:buNone/>
            </a:pPr>
            <a:r>
              <a:rPr b="1" i="0" lang="en-US" sz="2700" u="none" cap="none" strike="noStrike">
                <a:solidFill>
                  <a:srgbClr val="1E2A1C"/>
                </a:solidFill>
                <a:latin typeface="Century Schoolbook"/>
                <a:ea typeface="Century Schoolbook"/>
                <a:cs typeface="Century Schoolbook"/>
                <a:sym typeface="Century Schoolbook"/>
              </a:rPr>
              <a:t>Idén: återanvänd kunskap i stället för att börja om</a:t>
            </a:r>
            <a:endParaRPr b="0" i="0" sz="2700" u="none" cap="none" strike="noStrike">
              <a:solidFill>
                <a:schemeClr val="dk1"/>
              </a:solidFill>
              <a:latin typeface="Calibri"/>
              <a:ea typeface="Calibri"/>
              <a:cs typeface="Calibri"/>
              <a:sym typeface="Calibri"/>
            </a:endParaRPr>
          </a:p>
        </p:txBody>
      </p:sp>
      <p:sp>
        <p:nvSpPr>
          <p:cNvPr id="62" name="Google Shape;62;p3"/>
          <p:cNvSpPr/>
          <p:nvPr/>
        </p:nvSpPr>
        <p:spPr>
          <a:xfrm>
            <a:off x="548640" y="1325880"/>
            <a:ext cx="11064240"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1E2A1C"/>
              </a:buClr>
              <a:buSzPts val="1550"/>
              <a:buFont typeface="Calibri"/>
              <a:buNone/>
            </a:pPr>
            <a:r>
              <a:rPr b="0" i="0" lang="en-US" sz="1550" u="none" cap="none" strike="noStrike">
                <a:solidFill>
                  <a:srgbClr val="1E2A1C"/>
                </a:solidFill>
                <a:latin typeface="Calibri"/>
                <a:ea typeface="Calibri"/>
                <a:cs typeface="Calibri"/>
                <a:sym typeface="Calibri"/>
              </a:rPr>
              <a:t>En modell som redan lärt sig ”se” på miljontals bilder kan filtren för kanter, texturer och former lika bra på blommor. Vi behåller det den kan och lär bara om det sista steget.</a:t>
            </a:r>
            <a:endParaRPr b="0" i="0" sz="1550" u="none" cap="none" strike="noStrike">
              <a:solidFill>
                <a:schemeClr val="dk1"/>
              </a:solidFill>
              <a:latin typeface="Calibri"/>
              <a:ea typeface="Calibri"/>
              <a:cs typeface="Calibri"/>
              <a:sym typeface="Calibri"/>
            </a:endParaRPr>
          </a:p>
        </p:txBody>
      </p:sp>
      <p:sp>
        <p:nvSpPr>
          <p:cNvPr id="63" name="Google Shape;63;p3"/>
          <p:cNvSpPr/>
          <p:nvPr/>
        </p:nvSpPr>
        <p:spPr>
          <a:xfrm>
            <a:off x="548640" y="2377440"/>
            <a:ext cx="3520440" cy="2148840"/>
          </a:xfrm>
          <a:prstGeom prst="roundRect">
            <a:avLst>
              <a:gd fmla="val 4255"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868680" y="2651760"/>
            <a:ext cx="640080" cy="64008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 name="Google Shape;65;p3"/>
          <p:cNvPicPr preferRelativeResize="0"/>
          <p:nvPr/>
        </p:nvPicPr>
        <p:blipFill rotWithShape="1">
          <a:blip r:embed="rId4">
            <a:alphaModFix/>
          </a:blip>
          <a:srcRect b="0" l="0" r="0" t="0"/>
          <a:stretch/>
        </p:blipFill>
        <p:spPr>
          <a:xfrm>
            <a:off x="951890" y="2734970"/>
            <a:ext cx="473659" cy="473659"/>
          </a:xfrm>
          <a:prstGeom prst="rect">
            <a:avLst/>
          </a:prstGeom>
          <a:noFill/>
          <a:ln>
            <a:noFill/>
          </a:ln>
        </p:spPr>
      </p:pic>
      <p:sp>
        <p:nvSpPr>
          <p:cNvPr id="66" name="Google Shape;66;p3"/>
          <p:cNvSpPr/>
          <p:nvPr/>
        </p:nvSpPr>
        <p:spPr>
          <a:xfrm>
            <a:off x="3200400" y="2542032"/>
            <a:ext cx="640080" cy="6400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7BC62"/>
              </a:buClr>
              <a:buSzPts val="3400"/>
              <a:buFont typeface="Century Schoolbook"/>
              <a:buNone/>
            </a:pPr>
            <a:r>
              <a:rPr b="1" i="0" lang="en-US" sz="3400" u="none" cap="none" strike="noStrike">
                <a:solidFill>
                  <a:srgbClr val="97BC62"/>
                </a:solidFill>
                <a:latin typeface="Century Schoolbook"/>
                <a:ea typeface="Century Schoolbook"/>
                <a:cs typeface="Century Schoolbook"/>
                <a:sym typeface="Century Schoolbook"/>
              </a:rPr>
              <a:t>1</a:t>
            </a:r>
            <a:endParaRPr b="0" i="0" sz="3400" u="none" cap="none" strike="noStrike">
              <a:solidFill>
                <a:schemeClr val="dk1"/>
              </a:solidFill>
              <a:latin typeface="Calibri"/>
              <a:ea typeface="Calibri"/>
              <a:cs typeface="Calibri"/>
              <a:sym typeface="Calibri"/>
            </a:endParaRPr>
          </a:p>
        </p:txBody>
      </p:sp>
      <p:sp>
        <p:nvSpPr>
          <p:cNvPr id="67" name="Google Shape;67;p3"/>
          <p:cNvSpPr/>
          <p:nvPr/>
        </p:nvSpPr>
        <p:spPr>
          <a:xfrm>
            <a:off x="868680" y="3401568"/>
            <a:ext cx="29718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5F2D"/>
              </a:buClr>
              <a:buSzPts val="1700"/>
              <a:buFont typeface="Century Schoolbook"/>
              <a:buNone/>
            </a:pPr>
            <a:r>
              <a:rPr b="1" i="0" lang="en-US" sz="1700" u="none" cap="none" strike="noStrike">
                <a:solidFill>
                  <a:srgbClr val="2C5F2D"/>
                </a:solidFill>
                <a:latin typeface="Century Schoolbook"/>
                <a:ea typeface="Century Schoolbook"/>
                <a:cs typeface="Century Schoolbook"/>
                <a:sym typeface="Century Schoolbook"/>
              </a:rPr>
              <a:t>Förtränad modell</a:t>
            </a:r>
            <a:endParaRPr b="0" i="0" sz="1700" u="none" cap="none" strike="noStrike">
              <a:solidFill>
                <a:schemeClr val="dk1"/>
              </a:solidFill>
              <a:latin typeface="Calibri"/>
              <a:ea typeface="Calibri"/>
              <a:cs typeface="Calibri"/>
              <a:sym typeface="Calibri"/>
            </a:endParaRPr>
          </a:p>
        </p:txBody>
      </p:sp>
      <p:sp>
        <p:nvSpPr>
          <p:cNvPr id="68" name="Google Shape;68;p3"/>
          <p:cNvSpPr/>
          <p:nvPr/>
        </p:nvSpPr>
        <p:spPr>
          <a:xfrm>
            <a:off x="868680" y="3822192"/>
            <a:ext cx="297180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6000"/>
              </a:lnSpc>
              <a:spcBef>
                <a:spcPts val="0"/>
              </a:spcBef>
              <a:spcAft>
                <a:spcPts val="0"/>
              </a:spcAft>
              <a:buClr>
                <a:srgbClr val="5B6B58"/>
              </a:buClr>
              <a:buSzPts val="1250"/>
              <a:buFont typeface="Calibri"/>
              <a:buNone/>
            </a:pPr>
            <a:r>
              <a:rPr b="0" i="0" lang="en-US" sz="1250" u="none" cap="none" strike="noStrike">
                <a:solidFill>
                  <a:srgbClr val="5B6B58"/>
                </a:solidFill>
                <a:latin typeface="Calibri"/>
                <a:ea typeface="Calibri"/>
                <a:cs typeface="Calibri"/>
                <a:sym typeface="Calibri"/>
              </a:rPr>
              <a:t>EfficientNetV2B0, tränad på ImageNet 1,4 M bilder, 1000 klasser.</a:t>
            </a:r>
            <a:endParaRPr b="0" i="0" sz="1250" u="none" cap="none" strike="noStrike">
              <a:solidFill>
                <a:schemeClr val="dk1"/>
              </a:solidFill>
              <a:latin typeface="Calibri"/>
              <a:ea typeface="Calibri"/>
              <a:cs typeface="Calibri"/>
              <a:sym typeface="Calibri"/>
            </a:endParaRPr>
          </a:p>
        </p:txBody>
      </p:sp>
      <p:sp>
        <p:nvSpPr>
          <p:cNvPr id="69" name="Google Shape;69;p3"/>
          <p:cNvSpPr/>
          <p:nvPr/>
        </p:nvSpPr>
        <p:spPr>
          <a:xfrm>
            <a:off x="4050792" y="3063240"/>
            <a:ext cx="33832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7BC62"/>
              </a:buClr>
              <a:buSzPts val="2600"/>
              <a:buFont typeface="Calibri"/>
              <a:buNone/>
            </a:pPr>
            <a:r>
              <a:rPr b="1" i="0" lang="en-US" sz="2600" u="none" cap="none" strike="noStrike">
                <a:solidFill>
                  <a:srgbClr val="97BC62"/>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70" name="Google Shape;70;p3"/>
          <p:cNvSpPr/>
          <p:nvPr/>
        </p:nvSpPr>
        <p:spPr>
          <a:xfrm>
            <a:off x="4370832" y="2377440"/>
            <a:ext cx="3520440" cy="2148840"/>
          </a:xfrm>
          <a:prstGeom prst="roundRect">
            <a:avLst>
              <a:gd fmla="val 4255"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4690872" y="2651760"/>
            <a:ext cx="640080" cy="64008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 name="Google Shape;72;p3"/>
          <p:cNvPicPr preferRelativeResize="0"/>
          <p:nvPr/>
        </p:nvPicPr>
        <p:blipFill rotWithShape="1">
          <a:blip r:embed="rId5">
            <a:alphaModFix/>
          </a:blip>
          <a:srcRect b="0" l="0" r="0" t="0"/>
          <a:stretch/>
        </p:blipFill>
        <p:spPr>
          <a:xfrm>
            <a:off x="4774082" y="2734970"/>
            <a:ext cx="473659" cy="473659"/>
          </a:xfrm>
          <a:prstGeom prst="rect">
            <a:avLst/>
          </a:prstGeom>
          <a:noFill/>
          <a:ln>
            <a:noFill/>
          </a:ln>
        </p:spPr>
      </p:pic>
      <p:sp>
        <p:nvSpPr>
          <p:cNvPr id="73" name="Google Shape;73;p3"/>
          <p:cNvSpPr/>
          <p:nvPr/>
        </p:nvSpPr>
        <p:spPr>
          <a:xfrm>
            <a:off x="7022592" y="2542032"/>
            <a:ext cx="640080" cy="6400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7BC62"/>
              </a:buClr>
              <a:buSzPts val="3400"/>
              <a:buFont typeface="Century Schoolbook"/>
              <a:buNone/>
            </a:pPr>
            <a:r>
              <a:rPr b="1" i="0" lang="en-US" sz="3400" u="none" cap="none" strike="noStrike">
                <a:solidFill>
                  <a:srgbClr val="97BC62"/>
                </a:solidFill>
                <a:latin typeface="Century Schoolbook"/>
                <a:ea typeface="Century Schoolbook"/>
                <a:cs typeface="Century Schoolbook"/>
                <a:sym typeface="Century Schoolbook"/>
              </a:rPr>
              <a:t>2</a:t>
            </a:r>
            <a:endParaRPr b="0" i="0" sz="3400" u="none" cap="none" strike="noStrike">
              <a:solidFill>
                <a:schemeClr val="dk1"/>
              </a:solidFill>
              <a:latin typeface="Calibri"/>
              <a:ea typeface="Calibri"/>
              <a:cs typeface="Calibri"/>
              <a:sym typeface="Calibri"/>
            </a:endParaRPr>
          </a:p>
        </p:txBody>
      </p:sp>
      <p:sp>
        <p:nvSpPr>
          <p:cNvPr id="74" name="Google Shape;74;p3"/>
          <p:cNvSpPr/>
          <p:nvPr/>
        </p:nvSpPr>
        <p:spPr>
          <a:xfrm>
            <a:off x="4690872" y="3401568"/>
            <a:ext cx="29718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5F2D"/>
              </a:buClr>
              <a:buSzPts val="1700"/>
              <a:buFont typeface="Century Schoolbook"/>
              <a:buNone/>
            </a:pPr>
            <a:r>
              <a:rPr b="1" i="0" lang="en-US" sz="1700" u="none" cap="none" strike="noStrike">
                <a:solidFill>
                  <a:srgbClr val="2C5F2D"/>
                </a:solidFill>
                <a:latin typeface="Century Schoolbook"/>
                <a:ea typeface="Century Schoolbook"/>
                <a:cs typeface="Century Schoolbook"/>
                <a:sym typeface="Century Schoolbook"/>
              </a:rPr>
              <a:t>Frys det den lärt sig</a:t>
            </a:r>
            <a:endParaRPr b="0" i="0" sz="1700" u="none" cap="none" strike="noStrike">
              <a:solidFill>
                <a:schemeClr val="dk1"/>
              </a:solidFill>
              <a:latin typeface="Calibri"/>
              <a:ea typeface="Calibri"/>
              <a:cs typeface="Calibri"/>
              <a:sym typeface="Calibri"/>
            </a:endParaRPr>
          </a:p>
        </p:txBody>
      </p:sp>
      <p:sp>
        <p:nvSpPr>
          <p:cNvPr id="75" name="Google Shape;75;p3"/>
          <p:cNvSpPr/>
          <p:nvPr/>
        </p:nvSpPr>
        <p:spPr>
          <a:xfrm>
            <a:off x="4690872" y="3822192"/>
            <a:ext cx="297180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6000"/>
              </a:lnSpc>
              <a:spcBef>
                <a:spcPts val="0"/>
              </a:spcBef>
              <a:spcAft>
                <a:spcPts val="0"/>
              </a:spcAft>
              <a:buClr>
                <a:srgbClr val="5B6B58"/>
              </a:buClr>
              <a:buSzPts val="1250"/>
              <a:buFont typeface="Calibri"/>
              <a:buNone/>
            </a:pPr>
            <a:r>
              <a:rPr b="0" i="0" lang="en-US" sz="1250" u="none" cap="none" strike="noStrike">
                <a:solidFill>
                  <a:srgbClr val="5B6B58"/>
                </a:solidFill>
                <a:latin typeface="Calibri"/>
                <a:ea typeface="Calibri"/>
                <a:cs typeface="Calibri"/>
                <a:sym typeface="Calibri"/>
              </a:rPr>
              <a:t>Ryggraden låses. Den blir en färdig ”fingeravtrycks”-maskin för bilder.</a:t>
            </a:r>
            <a:endParaRPr b="0" i="0" sz="1250" u="none" cap="none" strike="noStrike">
              <a:solidFill>
                <a:schemeClr val="dk1"/>
              </a:solidFill>
              <a:latin typeface="Calibri"/>
              <a:ea typeface="Calibri"/>
              <a:cs typeface="Calibri"/>
              <a:sym typeface="Calibri"/>
            </a:endParaRPr>
          </a:p>
        </p:txBody>
      </p:sp>
      <p:sp>
        <p:nvSpPr>
          <p:cNvPr id="76" name="Google Shape;76;p3"/>
          <p:cNvSpPr/>
          <p:nvPr/>
        </p:nvSpPr>
        <p:spPr>
          <a:xfrm>
            <a:off x="7872984" y="3063240"/>
            <a:ext cx="338328"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7BC62"/>
              </a:buClr>
              <a:buSzPts val="2600"/>
              <a:buFont typeface="Calibri"/>
              <a:buNone/>
            </a:pPr>
            <a:r>
              <a:rPr b="1" i="0" lang="en-US" sz="2600" u="none" cap="none" strike="noStrike">
                <a:solidFill>
                  <a:srgbClr val="97BC62"/>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77" name="Google Shape;77;p3"/>
          <p:cNvSpPr/>
          <p:nvPr/>
        </p:nvSpPr>
        <p:spPr>
          <a:xfrm>
            <a:off x="8193024" y="2377440"/>
            <a:ext cx="3520440" cy="2148840"/>
          </a:xfrm>
          <a:prstGeom prst="roundRect">
            <a:avLst>
              <a:gd fmla="val 4255"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13064" y="2651760"/>
            <a:ext cx="640080" cy="64008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9" name="Google Shape;79;p3"/>
          <p:cNvPicPr preferRelativeResize="0"/>
          <p:nvPr/>
        </p:nvPicPr>
        <p:blipFill rotWithShape="1">
          <a:blip r:embed="rId6">
            <a:alphaModFix/>
          </a:blip>
          <a:srcRect b="0" l="0" r="0" t="0"/>
          <a:stretch/>
        </p:blipFill>
        <p:spPr>
          <a:xfrm>
            <a:off x="8596274" y="2734970"/>
            <a:ext cx="473659" cy="473659"/>
          </a:xfrm>
          <a:prstGeom prst="rect">
            <a:avLst/>
          </a:prstGeom>
          <a:noFill/>
          <a:ln>
            <a:noFill/>
          </a:ln>
        </p:spPr>
      </p:pic>
      <p:sp>
        <p:nvSpPr>
          <p:cNvPr id="80" name="Google Shape;80;p3"/>
          <p:cNvSpPr/>
          <p:nvPr/>
        </p:nvSpPr>
        <p:spPr>
          <a:xfrm>
            <a:off x="10844784" y="2542032"/>
            <a:ext cx="640080" cy="64008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97BC62"/>
              </a:buClr>
              <a:buSzPts val="3400"/>
              <a:buFont typeface="Century Schoolbook"/>
              <a:buNone/>
            </a:pPr>
            <a:r>
              <a:rPr b="1" i="0" lang="en-US" sz="3400" u="none" cap="none" strike="noStrike">
                <a:solidFill>
                  <a:srgbClr val="97BC62"/>
                </a:solidFill>
                <a:latin typeface="Century Schoolbook"/>
                <a:ea typeface="Century Schoolbook"/>
                <a:cs typeface="Century Schoolbook"/>
                <a:sym typeface="Century Schoolbook"/>
              </a:rPr>
              <a:t>3</a:t>
            </a:r>
            <a:endParaRPr b="0" i="0" sz="3400" u="none" cap="none" strike="noStrike">
              <a:solidFill>
                <a:schemeClr val="dk1"/>
              </a:solidFill>
              <a:latin typeface="Calibri"/>
              <a:ea typeface="Calibri"/>
              <a:cs typeface="Calibri"/>
              <a:sym typeface="Calibri"/>
            </a:endParaRPr>
          </a:p>
        </p:txBody>
      </p:sp>
      <p:sp>
        <p:nvSpPr>
          <p:cNvPr id="81" name="Google Shape;81;p3"/>
          <p:cNvSpPr/>
          <p:nvPr/>
        </p:nvSpPr>
        <p:spPr>
          <a:xfrm>
            <a:off x="8513064" y="3401568"/>
            <a:ext cx="29718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5F2D"/>
              </a:buClr>
              <a:buSzPts val="1700"/>
              <a:buFont typeface="Century Schoolbook"/>
              <a:buNone/>
            </a:pPr>
            <a:r>
              <a:rPr b="1" i="0" lang="en-US" sz="1700" u="none" cap="none" strike="noStrike">
                <a:solidFill>
                  <a:srgbClr val="2C5F2D"/>
                </a:solidFill>
                <a:latin typeface="Century Schoolbook"/>
                <a:ea typeface="Century Schoolbook"/>
                <a:cs typeface="Century Schoolbook"/>
                <a:sym typeface="Century Schoolbook"/>
              </a:rPr>
              <a:t>Lär en liten ny topp</a:t>
            </a:r>
            <a:endParaRPr b="0" i="0" sz="1700" u="none" cap="none" strike="noStrike">
              <a:solidFill>
                <a:schemeClr val="dk1"/>
              </a:solidFill>
              <a:latin typeface="Calibri"/>
              <a:ea typeface="Calibri"/>
              <a:cs typeface="Calibri"/>
              <a:sym typeface="Calibri"/>
            </a:endParaRPr>
          </a:p>
        </p:txBody>
      </p:sp>
      <p:sp>
        <p:nvSpPr>
          <p:cNvPr id="82" name="Google Shape;82;p3"/>
          <p:cNvSpPr/>
          <p:nvPr/>
        </p:nvSpPr>
        <p:spPr>
          <a:xfrm>
            <a:off x="8513064" y="3822192"/>
            <a:ext cx="297180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6000"/>
              </a:lnSpc>
              <a:spcBef>
                <a:spcPts val="0"/>
              </a:spcBef>
              <a:spcAft>
                <a:spcPts val="0"/>
              </a:spcAft>
              <a:buClr>
                <a:srgbClr val="5B6B58"/>
              </a:buClr>
              <a:buSzPts val="1250"/>
              <a:buFont typeface="Calibri"/>
              <a:buNone/>
            </a:pPr>
            <a:r>
              <a:rPr b="0" i="0" lang="en-US" sz="1250" u="none" cap="none" strike="noStrike">
                <a:solidFill>
                  <a:srgbClr val="5B6B58"/>
                </a:solidFill>
                <a:latin typeface="Calibri"/>
                <a:ea typeface="Calibri"/>
                <a:cs typeface="Calibri"/>
                <a:sym typeface="Calibri"/>
              </a:rPr>
              <a:t>Bara ett litet klassificeringslager tränas på våra 5 blomarter.</a:t>
            </a:r>
            <a:endParaRPr b="0" i="0" sz="1250" u="none" cap="none" strike="noStrike">
              <a:solidFill>
                <a:schemeClr val="dk1"/>
              </a:solidFill>
              <a:latin typeface="Calibri"/>
              <a:ea typeface="Calibri"/>
              <a:cs typeface="Calibri"/>
              <a:sym typeface="Calibri"/>
            </a:endParaRPr>
          </a:p>
        </p:txBody>
      </p:sp>
      <p:sp>
        <p:nvSpPr>
          <p:cNvPr id="83" name="Google Shape;83;p3"/>
          <p:cNvSpPr/>
          <p:nvPr/>
        </p:nvSpPr>
        <p:spPr>
          <a:xfrm>
            <a:off x="548640" y="4892040"/>
            <a:ext cx="11091672" cy="1371600"/>
          </a:xfrm>
          <a:prstGeom prst="roundRect">
            <a:avLst>
              <a:gd fmla="val 6667" name="adj"/>
            </a:avLst>
          </a:prstGeom>
          <a:solidFill>
            <a:srgbClr val="1733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3"/>
          <p:cNvSpPr/>
          <p:nvPr/>
        </p:nvSpPr>
        <p:spPr>
          <a:xfrm>
            <a:off x="868680" y="5285232"/>
            <a:ext cx="566928" cy="566928"/>
          </a:xfrm>
          <a:prstGeom prst="ellipse">
            <a:avLst/>
          </a:prstGeom>
          <a:solidFill>
            <a:srgbClr val="D8A1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5" name="Google Shape;85;p3"/>
          <p:cNvPicPr preferRelativeResize="0"/>
          <p:nvPr/>
        </p:nvPicPr>
        <p:blipFill rotWithShape="1">
          <a:blip r:embed="rId7">
            <a:alphaModFix/>
          </a:blip>
          <a:srcRect b="0" l="0" r="0" t="0"/>
          <a:stretch/>
        </p:blipFill>
        <p:spPr>
          <a:xfrm>
            <a:off x="942381" y="5358933"/>
            <a:ext cx="419527" cy="419527"/>
          </a:xfrm>
          <a:prstGeom prst="rect">
            <a:avLst/>
          </a:prstGeom>
          <a:noFill/>
          <a:ln>
            <a:noFill/>
          </a:ln>
        </p:spPr>
      </p:pic>
      <p:sp>
        <p:nvSpPr>
          <p:cNvPr id="86" name="Google Shape;86;p3"/>
          <p:cNvSpPr/>
          <p:nvPr/>
        </p:nvSpPr>
        <p:spPr>
          <a:xfrm>
            <a:off x="1600200" y="5029200"/>
            <a:ext cx="9784080" cy="109728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D8A13A"/>
              </a:buClr>
              <a:buSzPts val="1500"/>
              <a:buFont typeface="Calibri"/>
              <a:buNone/>
            </a:pPr>
            <a:r>
              <a:rPr b="1" i="0" lang="en-US" sz="1500" u="none" cap="none" strike="noStrike">
                <a:solidFill>
                  <a:srgbClr val="D8A13A"/>
                </a:solidFill>
                <a:latin typeface="Calibri"/>
                <a:ea typeface="Calibri"/>
                <a:cs typeface="Calibri"/>
                <a:sym typeface="Calibri"/>
              </a:rPr>
              <a:t>Från noll:  </a:t>
            </a:r>
            <a:r>
              <a:rPr b="0" i="0" lang="en-US" sz="1500" u="none" cap="none" strike="noStrike">
                <a:solidFill>
                  <a:srgbClr val="D8E3D2"/>
                </a:solidFill>
                <a:latin typeface="Calibri"/>
                <a:ea typeface="Calibri"/>
                <a:cs typeface="Calibri"/>
                <a:sym typeface="Calibri"/>
              </a:rPr>
              <a:t>miljontals märkta bilder + GPU-veckor.     </a:t>
            </a:r>
            <a:r>
              <a:rPr b="1" i="0" lang="en-US" sz="1500" u="none" cap="none" strike="noStrike">
                <a:solidFill>
                  <a:srgbClr val="97BC62"/>
                </a:solidFill>
                <a:latin typeface="Calibri"/>
                <a:ea typeface="Calibri"/>
                <a:cs typeface="Calibri"/>
                <a:sym typeface="Calibri"/>
              </a:rPr>
              <a:t>Med transfer learning:  </a:t>
            </a:r>
            <a:r>
              <a:rPr b="0" i="0" lang="en-US" sz="1500" u="none" cap="none" strike="noStrike">
                <a:solidFill>
                  <a:srgbClr val="FFFFFF"/>
                </a:solidFill>
                <a:latin typeface="Calibri"/>
                <a:ea typeface="Calibri"/>
                <a:cs typeface="Calibri"/>
                <a:sym typeface="Calibri"/>
              </a:rPr>
              <a:t>~2 500 bilder + 20 minuter på en vanlig CPU.</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4"/>
          <p:cNvSpPr/>
          <p:nvPr/>
        </p:nvSpPr>
        <p:spPr>
          <a:xfrm>
            <a:off x="548640" y="457200"/>
            <a:ext cx="566928" cy="566928"/>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 name="Google Shape;93;p4"/>
          <p:cNvPicPr preferRelativeResize="0"/>
          <p:nvPr/>
        </p:nvPicPr>
        <p:blipFill rotWithShape="1">
          <a:blip r:embed="rId3">
            <a:alphaModFix/>
          </a:blip>
          <a:srcRect b="0" l="0" r="0" t="0"/>
          <a:stretch/>
        </p:blipFill>
        <p:spPr>
          <a:xfrm>
            <a:off x="622341" y="530901"/>
            <a:ext cx="419527" cy="419527"/>
          </a:xfrm>
          <a:prstGeom prst="rect">
            <a:avLst/>
          </a:prstGeom>
          <a:noFill/>
          <a:ln>
            <a:noFill/>
          </a:ln>
        </p:spPr>
      </p:pic>
      <p:sp>
        <p:nvSpPr>
          <p:cNvPr id="94" name="Google Shape;94;p4"/>
          <p:cNvSpPr/>
          <p:nvPr/>
        </p:nvSpPr>
        <p:spPr>
          <a:xfrm>
            <a:off x="1234440" y="402336"/>
            <a:ext cx="104241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A1C"/>
              </a:buClr>
              <a:buSzPts val="2700"/>
              <a:buFont typeface="Century Schoolbook"/>
              <a:buNone/>
            </a:pPr>
            <a:r>
              <a:rPr b="1" i="0" lang="en-US" sz="2700" u="none" cap="none" strike="noStrike">
                <a:solidFill>
                  <a:srgbClr val="1E2A1C"/>
                </a:solidFill>
                <a:latin typeface="Century Schoolbook"/>
                <a:ea typeface="Century Schoolbook"/>
                <a:cs typeface="Century Schoolbook"/>
                <a:sym typeface="Century Schoolbook"/>
              </a:rPr>
              <a:t>Basmodellen: EfficientNetV2B0</a:t>
            </a:r>
            <a:endParaRPr b="0" i="0" sz="2700" u="none" cap="none" strike="noStrike">
              <a:solidFill>
                <a:schemeClr val="dk1"/>
              </a:solidFill>
              <a:latin typeface="Calibri"/>
              <a:ea typeface="Calibri"/>
              <a:cs typeface="Calibri"/>
              <a:sym typeface="Calibri"/>
            </a:endParaRPr>
          </a:p>
        </p:txBody>
      </p:sp>
      <p:sp>
        <p:nvSpPr>
          <p:cNvPr id="95" name="Google Shape;95;p4"/>
          <p:cNvSpPr/>
          <p:nvPr/>
        </p:nvSpPr>
        <p:spPr>
          <a:xfrm>
            <a:off x="548640" y="1325880"/>
            <a:ext cx="640080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1E2A1C"/>
              </a:buClr>
              <a:buSzPts val="1550"/>
              <a:buFont typeface="Calibri"/>
              <a:buNone/>
            </a:pPr>
            <a:r>
              <a:rPr b="0" i="0" lang="en-US" sz="1550" u="none" cap="none" strike="noStrike">
                <a:solidFill>
                  <a:srgbClr val="1E2A1C"/>
                </a:solidFill>
                <a:latin typeface="Calibri"/>
                <a:ea typeface="Calibri"/>
                <a:cs typeface="Calibri"/>
                <a:sym typeface="Calibri"/>
              </a:rPr>
              <a:t>En modern, effektiv faltningsmodell med ImageNet-vikter. Vi använder den utan sitt egna toppskikt bara som feature-extraktor.</a:t>
            </a:r>
            <a:endParaRPr b="0" i="0" sz="1550" u="none" cap="none" strike="noStrike">
              <a:solidFill>
                <a:schemeClr val="dk1"/>
              </a:solidFill>
              <a:latin typeface="Calibri"/>
              <a:ea typeface="Calibri"/>
              <a:cs typeface="Calibri"/>
              <a:sym typeface="Calibri"/>
            </a:endParaRPr>
          </a:p>
        </p:txBody>
      </p:sp>
      <p:sp>
        <p:nvSpPr>
          <p:cNvPr id="96" name="Google Shape;96;p4"/>
          <p:cNvSpPr/>
          <p:nvPr/>
        </p:nvSpPr>
        <p:spPr>
          <a:xfrm>
            <a:off x="548640" y="2331720"/>
            <a:ext cx="3063240" cy="1234440"/>
          </a:xfrm>
          <a:prstGeom prst="roundRect">
            <a:avLst>
              <a:gd fmla="val 7407"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804672" y="2642616"/>
            <a:ext cx="548640" cy="54864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8" name="Google Shape;98;p4"/>
          <p:cNvPicPr preferRelativeResize="0"/>
          <p:nvPr/>
        </p:nvPicPr>
        <p:blipFill rotWithShape="1">
          <a:blip r:embed="rId4">
            <a:alphaModFix/>
          </a:blip>
          <a:srcRect b="0" l="0" r="0" t="0"/>
          <a:stretch/>
        </p:blipFill>
        <p:spPr>
          <a:xfrm>
            <a:off x="875995" y="2713939"/>
            <a:ext cx="405994" cy="405994"/>
          </a:xfrm>
          <a:prstGeom prst="rect">
            <a:avLst/>
          </a:prstGeom>
          <a:noFill/>
          <a:ln>
            <a:noFill/>
          </a:ln>
        </p:spPr>
      </p:pic>
      <p:sp>
        <p:nvSpPr>
          <p:cNvPr id="99" name="Google Shape;99;p4"/>
          <p:cNvSpPr/>
          <p:nvPr/>
        </p:nvSpPr>
        <p:spPr>
          <a:xfrm>
            <a:off x="1508760" y="2514600"/>
            <a:ext cx="20116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5F2D"/>
              </a:buClr>
              <a:buSzPts val="1700"/>
              <a:buFont typeface="Century Schoolbook"/>
              <a:buNone/>
            </a:pPr>
            <a:r>
              <a:rPr b="1" i="0" lang="en-US" sz="1700" u="none" cap="none" strike="noStrike">
                <a:solidFill>
                  <a:srgbClr val="2C5F2D"/>
                </a:solidFill>
                <a:latin typeface="Century Schoolbook"/>
                <a:ea typeface="Century Schoolbook"/>
                <a:cs typeface="Century Schoolbook"/>
                <a:sym typeface="Century Schoolbook"/>
              </a:rPr>
              <a:t>1,4 M bilder</a:t>
            </a:r>
            <a:endParaRPr b="0" i="0" sz="1700" u="none" cap="none" strike="noStrike">
              <a:solidFill>
                <a:schemeClr val="dk1"/>
              </a:solidFill>
              <a:latin typeface="Calibri"/>
              <a:ea typeface="Calibri"/>
              <a:cs typeface="Calibri"/>
              <a:sym typeface="Calibri"/>
            </a:endParaRPr>
          </a:p>
        </p:txBody>
      </p:sp>
      <p:sp>
        <p:nvSpPr>
          <p:cNvPr id="100" name="Google Shape;100;p4"/>
          <p:cNvSpPr/>
          <p:nvPr/>
        </p:nvSpPr>
        <p:spPr>
          <a:xfrm>
            <a:off x="1508760" y="2907792"/>
            <a:ext cx="201168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3000"/>
              </a:lnSpc>
              <a:spcBef>
                <a:spcPts val="0"/>
              </a:spcBef>
              <a:spcAft>
                <a:spcPts val="0"/>
              </a:spcAft>
              <a:buClr>
                <a:srgbClr val="5B6B58"/>
              </a:buClr>
              <a:buSzPts val="1150"/>
              <a:buFont typeface="Calibri"/>
              <a:buNone/>
            </a:pPr>
            <a:r>
              <a:rPr b="0" i="0" lang="en-US" sz="1150" u="none" cap="none" strike="noStrike">
                <a:solidFill>
                  <a:srgbClr val="5B6B58"/>
                </a:solidFill>
                <a:latin typeface="Calibri"/>
                <a:ea typeface="Calibri"/>
                <a:cs typeface="Calibri"/>
                <a:sym typeface="Calibri"/>
              </a:rPr>
              <a:t>förtränad på ImageNet, 1000 klasser</a:t>
            </a:r>
            <a:endParaRPr b="0" i="0" sz="1150" u="none" cap="none" strike="noStrike">
              <a:solidFill>
                <a:schemeClr val="dk1"/>
              </a:solidFill>
              <a:latin typeface="Calibri"/>
              <a:ea typeface="Calibri"/>
              <a:cs typeface="Calibri"/>
              <a:sym typeface="Calibri"/>
            </a:endParaRPr>
          </a:p>
        </p:txBody>
      </p:sp>
      <p:sp>
        <p:nvSpPr>
          <p:cNvPr id="101" name="Google Shape;101;p4"/>
          <p:cNvSpPr/>
          <p:nvPr/>
        </p:nvSpPr>
        <p:spPr>
          <a:xfrm>
            <a:off x="3794760" y="2331720"/>
            <a:ext cx="3063240" cy="1234440"/>
          </a:xfrm>
          <a:prstGeom prst="roundRect">
            <a:avLst>
              <a:gd fmla="val 7407"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4050792" y="2642616"/>
            <a:ext cx="548640" cy="54864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3" name="Google Shape;103;p4"/>
          <p:cNvPicPr preferRelativeResize="0"/>
          <p:nvPr/>
        </p:nvPicPr>
        <p:blipFill rotWithShape="1">
          <a:blip r:embed="rId5">
            <a:alphaModFix/>
          </a:blip>
          <a:srcRect b="0" l="0" r="0" t="0"/>
          <a:stretch/>
        </p:blipFill>
        <p:spPr>
          <a:xfrm>
            <a:off x="4122115" y="2713939"/>
            <a:ext cx="405994" cy="405994"/>
          </a:xfrm>
          <a:prstGeom prst="rect">
            <a:avLst/>
          </a:prstGeom>
          <a:noFill/>
          <a:ln>
            <a:noFill/>
          </a:ln>
        </p:spPr>
      </p:pic>
      <p:sp>
        <p:nvSpPr>
          <p:cNvPr id="104" name="Google Shape;104;p4"/>
          <p:cNvSpPr/>
          <p:nvPr/>
        </p:nvSpPr>
        <p:spPr>
          <a:xfrm>
            <a:off x="4754880" y="2514600"/>
            <a:ext cx="20116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5F2D"/>
              </a:buClr>
              <a:buSzPts val="1700"/>
              <a:buFont typeface="Century Schoolbook"/>
              <a:buNone/>
            </a:pPr>
            <a:r>
              <a:rPr b="1" i="0" lang="en-US" sz="1700" u="none" cap="none" strike="noStrike">
                <a:solidFill>
                  <a:srgbClr val="2C5F2D"/>
                </a:solidFill>
                <a:latin typeface="Century Schoolbook"/>
                <a:ea typeface="Century Schoolbook"/>
                <a:cs typeface="Century Schoolbook"/>
                <a:sym typeface="Century Schoolbook"/>
              </a:rPr>
              <a:t>270 lager</a:t>
            </a:r>
            <a:endParaRPr b="0" i="0" sz="1700" u="none" cap="none" strike="noStrike">
              <a:solidFill>
                <a:schemeClr val="dk1"/>
              </a:solidFill>
              <a:latin typeface="Calibri"/>
              <a:ea typeface="Calibri"/>
              <a:cs typeface="Calibri"/>
              <a:sym typeface="Calibri"/>
            </a:endParaRPr>
          </a:p>
        </p:txBody>
      </p:sp>
      <p:sp>
        <p:nvSpPr>
          <p:cNvPr id="105" name="Google Shape;105;p4"/>
          <p:cNvSpPr/>
          <p:nvPr/>
        </p:nvSpPr>
        <p:spPr>
          <a:xfrm>
            <a:off x="4754880" y="2907792"/>
            <a:ext cx="201168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3000"/>
              </a:lnSpc>
              <a:spcBef>
                <a:spcPts val="0"/>
              </a:spcBef>
              <a:spcAft>
                <a:spcPts val="0"/>
              </a:spcAft>
              <a:buClr>
                <a:srgbClr val="5B6B58"/>
              </a:buClr>
              <a:buSzPts val="1150"/>
              <a:buFont typeface="Calibri"/>
              <a:buNone/>
            </a:pPr>
            <a:r>
              <a:rPr b="0" i="0" lang="en-US" sz="1150" u="none" cap="none" strike="noStrike">
                <a:solidFill>
                  <a:srgbClr val="5B6B58"/>
                </a:solidFill>
                <a:latin typeface="Calibri"/>
                <a:ea typeface="Calibri"/>
                <a:cs typeface="Calibri"/>
                <a:sym typeface="Calibri"/>
              </a:rPr>
              <a:t>djup arkitektur, redan finslipad</a:t>
            </a:r>
            <a:endParaRPr b="0" i="0" sz="1150" u="none" cap="none" strike="noStrike">
              <a:solidFill>
                <a:schemeClr val="dk1"/>
              </a:solidFill>
              <a:latin typeface="Calibri"/>
              <a:ea typeface="Calibri"/>
              <a:cs typeface="Calibri"/>
              <a:sym typeface="Calibri"/>
            </a:endParaRPr>
          </a:p>
        </p:txBody>
      </p:sp>
      <p:sp>
        <p:nvSpPr>
          <p:cNvPr id="106" name="Google Shape;106;p4"/>
          <p:cNvSpPr/>
          <p:nvPr/>
        </p:nvSpPr>
        <p:spPr>
          <a:xfrm>
            <a:off x="548640" y="3749040"/>
            <a:ext cx="3063240" cy="1234440"/>
          </a:xfrm>
          <a:prstGeom prst="roundRect">
            <a:avLst>
              <a:gd fmla="val 7407"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804672" y="4059936"/>
            <a:ext cx="548640" cy="54864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8" name="Google Shape;108;p4"/>
          <p:cNvPicPr preferRelativeResize="0"/>
          <p:nvPr/>
        </p:nvPicPr>
        <p:blipFill rotWithShape="1">
          <a:blip r:embed="rId6">
            <a:alphaModFix/>
          </a:blip>
          <a:srcRect b="0" l="0" r="0" t="0"/>
          <a:stretch/>
        </p:blipFill>
        <p:spPr>
          <a:xfrm>
            <a:off x="875995" y="4131259"/>
            <a:ext cx="405994" cy="405994"/>
          </a:xfrm>
          <a:prstGeom prst="rect">
            <a:avLst/>
          </a:prstGeom>
          <a:noFill/>
          <a:ln>
            <a:noFill/>
          </a:ln>
        </p:spPr>
      </p:pic>
      <p:sp>
        <p:nvSpPr>
          <p:cNvPr id="109" name="Google Shape;109;p4"/>
          <p:cNvSpPr/>
          <p:nvPr/>
        </p:nvSpPr>
        <p:spPr>
          <a:xfrm>
            <a:off x="1508760" y="3931920"/>
            <a:ext cx="20116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5F2D"/>
              </a:buClr>
              <a:buSzPts val="1700"/>
              <a:buFont typeface="Century Schoolbook"/>
              <a:buNone/>
            </a:pPr>
            <a:r>
              <a:rPr b="1" i="0" lang="en-US" sz="1700" u="none" cap="none" strike="noStrike">
                <a:solidFill>
                  <a:srgbClr val="2C5F2D"/>
                </a:solidFill>
                <a:latin typeface="Century Schoolbook"/>
                <a:ea typeface="Century Schoolbook"/>
                <a:cs typeface="Century Schoolbook"/>
                <a:sym typeface="Century Schoolbook"/>
              </a:rPr>
              <a:t>5,9 M parametrar</a:t>
            </a:r>
            <a:endParaRPr b="0" i="0" sz="1700" u="none" cap="none" strike="noStrike">
              <a:solidFill>
                <a:schemeClr val="dk1"/>
              </a:solidFill>
              <a:latin typeface="Calibri"/>
              <a:ea typeface="Calibri"/>
              <a:cs typeface="Calibri"/>
              <a:sym typeface="Calibri"/>
            </a:endParaRPr>
          </a:p>
        </p:txBody>
      </p:sp>
      <p:sp>
        <p:nvSpPr>
          <p:cNvPr id="110" name="Google Shape;110;p4"/>
          <p:cNvSpPr/>
          <p:nvPr/>
        </p:nvSpPr>
        <p:spPr>
          <a:xfrm>
            <a:off x="1508760" y="4325112"/>
            <a:ext cx="201168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3000"/>
              </a:lnSpc>
              <a:spcBef>
                <a:spcPts val="0"/>
              </a:spcBef>
              <a:spcAft>
                <a:spcPts val="0"/>
              </a:spcAft>
              <a:buClr>
                <a:srgbClr val="5B6B58"/>
              </a:buClr>
              <a:buSzPts val="1150"/>
              <a:buFont typeface="Calibri"/>
              <a:buNone/>
            </a:pPr>
            <a:r>
              <a:rPr b="0" i="0" lang="en-US" sz="1150" u="none" cap="none" strike="noStrike">
                <a:solidFill>
                  <a:srgbClr val="5B6B58"/>
                </a:solidFill>
                <a:latin typeface="Calibri"/>
                <a:ea typeface="Calibri"/>
                <a:cs typeface="Calibri"/>
                <a:sym typeface="Calibri"/>
              </a:rPr>
              <a:t>kompakt får plats och tränar på CPU</a:t>
            </a:r>
            <a:endParaRPr b="0" i="0" sz="1150" u="none" cap="none" strike="noStrike">
              <a:solidFill>
                <a:schemeClr val="dk1"/>
              </a:solidFill>
              <a:latin typeface="Calibri"/>
              <a:ea typeface="Calibri"/>
              <a:cs typeface="Calibri"/>
              <a:sym typeface="Calibri"/>
            </a:endParaRPr>
          </a:p>
        </p:txBody>
      </p:sp>
      <p:sp>
        <p:nvSpPr>
          <p:cNvPr id="111" name="Google Shape;111;p4"/>
          <p:cNvSpPr/>
          <p:nvPr/>
        </p:nvSpPr>
        <p:spPr>
          <a:xfrm>
            <a:off x="3794760" y="3749040"/>
            <a:ext cx="3063240" cy="1234440"/>
          </a:xfrm>
          <a:prstGeom prst="roundRect">
            <a:avLst>
              <a:gd fmla="val 7407"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p:nvPr/>
        </p:nvSpPr>
        <p:spPr>
          <a:xfrm>
            <a:off x="4050792" y="4059936"/>
            <a:ext cx="548640" cy="54864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4"/>
          <p:cNvPicPr preferRelativeResize="0"/>
          <p:nvPr/>
        </p:nvPicPr>
        <p:blipFill rotWithShape="1">
          <a:blip r:embed="rId7">
            <a:alphaModFix/>
          </a:blip>
          <a:srcRect b="0" l="0" r="0" t="0"/>
          <a:stretch/>
        </p:blipFill>
        <p:spPr>
          <a:xfrm>
            <a:off x="4122115" y="4131259"/>
            <a:ext cx="405994" cy="405994"/>
          </a:xfrm>
          <a:prstGeom prst="rect">
            <a:avLst/>
          </a:prstGeom>
          <a:noFill/>
          <a:ln>
            <a:noFill/>
          </a:ln>
        </p:spPr>
      </p:pic>
      <p:sp>
        <p:nvSpPr>
          <p:cNvPr id="114" name="Google Shape;114;p4"/>
          <p:cNvSpPr/>
          <p:nvPr/>
        </p:nvSpPr>
        <p:spPr>
          <a:xfrm>
            <a:off x="4754880" y="3931920"/>
            <a:ext cx="201168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5F2D"/>
              </a:buClr>
              <a:buSzPts val="1700"/>
              <a:buFont typeface="Century Schoolbook"/>
              <a:buNone/>
            </a:pPr>
            <a:r>
              <a:rPr b="1" i="0" lang="en-US" sz="1700" u="none" cap="none" strike="noStrike">
                <a:solidFill>
                  <a:srgbClr val="2C5F2D"/>
                </a:solidFill>
                <a:latin typeface="Century Schoolbook"/>
                <a:ea typeface="Century Schoolbook"/>
                <a:cs typeface="Century Schoolbook"/>
                <a:sym typeface="Century Schoolbook"/>
              </a:rPr>
              <a:t>Snabbast ändå</a:t>
            </a:r>
            <a:endParaRPr b="0" i="0" sz="1700" u="none" cap="none" strike="noStrike">
              <a:solidFill>
                <a:schemeClr val="dk1"/>
              </a:solidFill>
              <a:latin typeface="Calibri"/>
              <a:ea typeface="Calibri"/>
              <a:cs typeface="Calibri"/>
              <a:sym typeface="Calibri"/>
            </a:endParaRPr>
          </a:p>
        </p:txBody>
      </p:sp>
      <p:sp>
        <p:nvSpPr>
          <p:cNvPr id="115" name="Google Shape;115;p4"/>
          <p:cNvSpPr/>
          <p:nvPr/>
        </p:nvSpPr>
        <p:spPr>
          <a:xfrm>
            <a:off x="4754880" y="4325112"/>
            <a:ext cx="201168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3000"/>
              </a:lnSpc>
              <a:spcBef>
                <a:spcPts val="0"/>
              </a:spcBef>
              <a:spcAft>
                <a:spcPts val="0"/>
              </a:spcAft>
              <a:buClr>
                <a:srgbClr val="5B6B58"/>
              </a:buClr>
              <a:buSzPts val="1150"/>
              <a:buFont typeface="Calibri"/>
              <a:buNone/>
            </a:pPr>
            <a:r>
              <a:rPr b="0" i="0" lang="en-US" sz="1150" u="none" cap="none" strike="noStrike">
                <a:solidFill>
                  <a:srgbClr val="5B6B58"/>
                </a:solidFill>
                <a:latin typeface="Calibri"/>
                <a:ea typeface="Calibri"/>
                <a:cs typeface="Calibri"/>
                <a:sym typeface="Calibri"/>
              </a:rPr>
              <a:t>130 vs 123 bilder/s mot MobileNetV2, trots 2,5× storlek</a:t>
            </a:r>
            <a:endParaRPr b="0" i="0" sz="1150" u="none" cap="none" strike="noStrike">
              <a:solidFill>
                <a:schemeClr val="dk1"/>
              </a:solidFill>
              <a:latin typeface="Calibri"/>
              <a:ea typeface="Calibri"/>
              <a:cs typeface="Calibri"/>
              <a:sym typeface="Calibri"/>
            </a:endParaRPr>
          </a:p>
        </p:txBody>
      </p:sp>
      <p:sp>
        <p:nvSpPr>
          <p:cNvPr id="116" name="Google Shape;116;p4"/>
          <p:cNvSpPr/>
          <p:nvPr/>
        </p:nvSpPr>
        <p:spPr>
          <a:xfrm>
            <a:off x="7315200" y="2331720"/>
            <a:ext cx="4325112" cy="3931920"/>
          </a:xfrm>
          <a:prstGeom prst="roundRect">
            <a:avLst>
              <a:gd fmla="val 2326" name="adj"/>
            </a:avLst>
          </a:prstGeom>
          <a:solidFill>
            <a:srgbClr val="1733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7589520" y="2560320"/>
            <a:ext cx="384048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7BC62"/>
              </a:buClr>
              <a:buSzPts val="1800"/>
              <a:buFont typeface="Century Schoolbook"/>
              <a:buNone/>
            </a:pPr>
            <a:r>
              <a:rPr b="1" i="0" lang="en-US" sz="1800" u="none" cap="none" strike="noStrike">
                <a:solidFill>
                  <a:srgbClr val="97BC62"/>
                </a:solidFill>
                <a:latin typeface="Century Schoolbook"/>
                <a:ea typeface="Century Schoolbook"/>
                <a:cs typeface="Century Schoolbook"/>
                <a:sym typeface="Century Schoolbook"/>
              </a:rPr>
              <a:t>Vad ryggraden ger oss</a:t>
            </a:r>
            <a:endParaRPr b="0" i="0" sz="1800" u="none" cap="none" strike="noStrike">
              <a:solidFill>
                <a:schemeClr val="dk1"/>
              </a:solidFill>
              <a:latin typeface="Calibri"/>
              <a:ea typeface="Calibri"/>
              <a:cs typeface="Calibri"/>
              <a:sym typeface="Calibri"/>
            </a:endParaRPr>
          </a:p>
        </p:txBody>
      </p:sp>
      <p:sp>
        <p:nvSpPr>
          <p:cNvPr id="118" name="Google Shape;118;p4"/>
          <p:cNvSpPr/>
          <p:nvPr/>
        </p:nvSpPr>
        <p:spPr>
          <a:xfrm>
            <a:off x="7589520" y="3063240"/>
            <a:ext cx="3794760" cy="82296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D8E3D2"/>
              </a:buClr>
              <a:buSzPts val="1350"/>
              <a:buFont typeface="Calibri"/>
              <a:buNone/>
            </a:pPr>
            <a:r>
              <a:rPr b="0" i="0" lang="en-US" sz="1350" u="none" cap="none" strike="noStrike">
                <a:solidFill>
                  <a:srgbClr val="D8E3D2"/>
                </a:solidFill>
                <a:latin typeface="Calibri"/>
                <a:ea typeface="Calibri"/>
                <a:cs typeface="Calibri"/>
                <a:sym typeface="Calibri"/>
              </a:rPr>
              <a:t>Varje bild blir ett ”fingeravtryck” på 1 280 tal som beskriver kanter, texturer och former.</a:t>
            </a:r>
            <a:endParaRPr b="0" i="0" sz="1350" u="none" cap="none" strike="noStrike">
              <a:solidFill>
                <a:schemeClr val="dk1"/>
              </a:solidFill>
              <a:latin typeface="Calibri"/>
              <a:ea typeface="Calibri"/>
              <a:cs typeface="Calibri"/>
              <a:sym typeface="Calibri"/>
            </a:endParaRPr>
          </a:p>
        </p:txBody>
      </p:sp>
      <p:pic>
        <p:nvPicPr>
          <p:cNvPr descr="preencoded.png" id="119" name="Google Shape;119;p4"/>
          <p:cNvPicPr preferRelativeResize="0"/>
          <p:nvPr/>
        </p:nvPicPr>
        <p:blipFill rotWithShape="1">
          <a:blip r:embed="rId8">
            <a:alphaModFix/>
          </a:blip>
          <a:srcRect b="0" l="0" r="0" t="0"/>
          <a:stretch/>
        </p:blipFill>
        <p:spPr>
          <a:xfrm>
            <a:off x="7589520" y="3995928"/>
            <a:ext cx="201168" cy="201168"/>
          </a:xfrm>
          <a:prstGeom prst="rect">
            <a:avLst/>
          </a:prstGeom>
          <a:noFill/>
          <a:ln>
            <a:noFill/>
          </a:ln>
        </p:spPr>
      </p:pic>
      <p:sp>
        <p:nvSpPr>
          <p:cNvPr id="120" name="Google Shape;120;p4"/>
          <p:cNvSpPr/>
          <p:nvPr/>
        </p:nvSpPr>
        <p:spPr>
          <a:xfrm>
            <a:off x="7882128" y="3895344"/>
            <a:ext cx="35204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Tidiga lager: generiska kanter och färgfläckar — överförs perfekt.</a:t>
            </a:r>
            <a:endParaRPr b="0" i="0" sz="1250" u="none" cap="none" strike="noStrike">
              <a:solidFill>
                <a:schemeClr val="dk1"/>
              </a:solidFill>
              <a:latin typeface="Calibri"/>
              <a:ea typeface="Calibri"/>
              <a:cs typeface="Calibri"/>
              <a:sym typeface="Calibri"/>
            </a:endParaRPr>
          </a:p>
        </p:txBody>
      </p:sp>
      <p:pic>
        <p:nvPicPr>
          <p:cNvPr descr="preencoded.png" id="121" name="Google Shape;121;p4"/>
          <p:cNvPicPr preferRelativeResize="0"/>
          <p:nvPr/>
        </p:nvPicPr>
        <p:blipFill rotWithShape="1">
          <a:blip r:embed="rId8">
            <a:alphaModFix/>
          </a:blip>
          <a:srcRect b="0" l="0" r="0" t="0"/>
          <a:stretch/>
        </p:blipFill>
        <p:spPr>
          <a:xfrm>
            <a:off x="7589520" y="4709160"/>
            <a:ext cx="201168" cy="201168"/>
          </a:xfrm>
          <a:prstGeom prst="rect">
            <a:avLst/>
          </a:prstGeom>
          <a:noFill/>
          <a:ln>
            <a:noFill/>
          </a:ln>
        </p:spPr>
      </p:pic>
      <p:sp>
        <p:nvSpPr>
          <p:cNvPr id="122" name="Google Shape;122;p4"/>
          <p:cNvSpPr/>
          <p:nvPr/>
        </p:nvSpPr>
        <p:spPr>
          <a:xfrm>
            <a:off x="7882128" y="4608576"/>
            <a:ext cx="35204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Sena lager: mer objekt-specifika mönster — dessa finjusterar vi senare.</a:t>
            </a:r>
            <a:endParaRPr b="0" i="0" sz="1250" u="none" cap="none" strike="noStrike">
              <a:solidFill>
                <a:schemeClr val="dk1"/>
              </a:solidFill>
              <a:latin typeface="Calibri"/>
              <a:ea typeface="Calibri"/>
              <a:cs typeface="Calibri"/>
              <a:sym typeface="Calibri"/>
            </a:endParaRPr>
          </a:p>
        </p:txBody>
      </p:sp>
      <p:pic>
        <p:nvPicPr>
          <p:cNvPr descr="preencoded.png" id="123" name="Google Shape;123;p4"/>
          <p:cNvPicPr preferRelativeResize="0"/>
          <p:nvPr/>
        </p:nvPicPr>
        <p:blipFill rotWithShape="1">
          <a:blip r:embed="rId8">
            <a:alphaModFix/>
          </a:blip>
          <a:srcRect b="0" l="0" r="0" t="0"/>
          <a:stretch/>
        </p:blipFill>
        <p:spPr>
          <a:xfrm>
            <a:off x="7589520" y="5422392"/>
            <a:ext cx="201168" cy="201168"/>
          </a:xfrm>
          <a:prstGeom prst="rect">
            <a:avLst/>
          </a:prstGeom>
          <a:noFill/>
          <a:ln>
            <a:noFill/>
          </a:ln>
        </p:spPr>
      </p:pic>
      <p:sp>
        <p:nvSpPr>
          <p:cNvPr id="124" name="Google Shape;124;p4"/>
          <p:cNvSpPr/>
          <p:nvPr/>
        </p:nvSpPr>
        <p:spPr>
          <a:xfrm>
            <a:off x="7882128" y="5321808"/>
            <a:ext cx="3520440" cy="658368"/>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Inga vikter kastas — vi bygger vidare på kunskap som redan finns.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5"/>
          <p:cNvSpPr/>
          <p:nvPr/>
        </p:nvSpPr>
        <p:spPr>
          <a:xfrm>
            <a:off x="548640" y="457200"/>
            <a:ext cx="566928" cy="566928"/>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1" name="Google Shape;131;p5"/>
          <p:cNvPicPr preferRelativeResize="0"/>
          <p:nvPr/>
        </p:nvPicPr>
        <p:blipFill rotWithShape="1">
          <a:blip r:embed="rId3">
            <a:alphaModFix/>
          </a:blip>
          <a:srcRect b="0" l="0" r="0" t="0"/>
          <a:stretch/>
        </p:blipFill>
        <p:spPr>
          <a:xfrm>
            <a:off x="622341" y="530901"/>
            <a:ext cx="419527" cy="419527"/>
          </a:xfrm>
          <a:prstGeom prst="rect">
            <a:avLst/>
          </a:prstGeom>
          <a:noFill/>
          <a:ln>
            <a:noFill/>
          </a:ln>
        </p:spPr>
      </p:pic>
      <p:sp>
        <p:nvSpPr>
          <p:cNvPr id="132" name="Google Shape;132;p5"/>
          <p:cNvSpPr/>
          <p:nvPr/>
        </p:nvSpPr>
        <p:spPr>
          <a:xfrm>
            <a:off x="1234440" y="402336"/>
            <a:ext cx="104241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A1C"/>
              </a:buClr>
              <a:buSzPts val="2700"/>
              <a:buFont typeface="Century Schoolbook"/>
              <a:buNone/>
            </a:pPr>
            <a:r>
              <a:rPr b="1" i="0" lang="en-US" sz="2700" u="none" cap="none" strike="noStrike">
                <a:solidFill>
                  <a:srgbClr val="1E2A1C"/>
                </a:solidFill>
                <a:latin typeface="Century Schoolbook"/>
                <a:ea typeface="Century Schoolbook"/>
                <a:cs typeface="Century Schoolbook"/>
                <a:sym typeface="Century Schoolbook"/>
              </a:rPr>
              <a:t>Så byggde vi modellen</a:t>
            </a:r>
            <a:endParaRPr b="0" i="0" sz="2700" u="none" cap="none" strike="noStrike">
              <a:solidFill>
                <a:schemeClr val="dk1"/>
              </a:solidFill>
              <a:latin typeface="Calibri"/>
              <a:ea typeface="Calibri"/>
              <a:cs typeface="Calibri"/>
              <a:sym typeface="Calibri"/>
            </a:endParaRPr>
          </a:p>
        </p:txBody>
      </p:sp>
      <p:sp>
        <p:nvSpPr>
          <p:cNvPr id="133" name="Google Shape;133;p5"/>
          <p:cNvSpPr/>
          <p:nvPr/>
        </p:nvSpPr>
        <p:spPr>
          <a:xfrm>
            <a:off x="548640" y="1280160"/>
            <a:ext cx="110642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5B6B58"/>
              </a:buClr>
              <a:buSzPts val="1450"/>
              <a:buFont typeface="Calibri"/>
              <a:buNone/>
            </a:pPr>
            <a:r>
              <a:rPr b="0" i="0" lang="en-US" sz="1450" u="none" cap="none" strike="noStrike">
                <a:solidFill>
                  <a:srgbClr val="5B6B58"/>
                </a:solidFill>
                <a:latin typeface="Calibri"/>
                <a:ea typeface="Calibri"/>
                <a:cs typeface="Calibri"/>
                <a:sym typeface="Calibri"/>
              </a:rPr>
              <a:t>Augmentering och förbehandling ligger inbyggda i modellen så inferens aldrig kan göra fel, och prediktion bara matas med en rå bild.</a:t>
            </a:r>
            <a:endParaRPr b="0" i="0" sz="1450" u="none" cap="none" strike="noStrike">
              <a:solidFill>
                <a:schemeClr val="dk1"/>
              </a:solidFill>
              <a:latin typeface="Calibri"/>
              <a:ea typeface="Calibri"/>
              <a:cs typeface="Calibri"/>
              <a:sym typeface="Calibri"/>
            </a:endParaRPr>
          </a:p>
        </p:txBody>
      </p:sp>
      <p:sp>
        <p:nvSpPr>
          <p:cNvPr id="134" name="Google Shape;134;p5"/>
          <p:cNvSpPr/>
          <p:nvPr/>
        </p:nvSpPr>
        <p:spPr>
          <a:xfrm>
            <a:off x="548640" y="2011680"/>
            <a:ext cx="3794760" cy="530352"/>
          </a:xfrm>
          <a:prstGeom prst="roundRect">
            <a:avLst>
              <a:gd fmla="val 13793" name="adj"/>
            </a:avLst>
          </a:prstGeom>
          <a:solidFill>
            <a:srgbClr val="F1F5EC"/>
          </a:solidFill>
          <a:ln cap="flat" cmpd="sng" w="12700">
            <a:solidFill>
              <a:srgbClr val="97BC62"/>
            </a:solidFill>
            <a:prstDash val="solid"/>
            <a:round/>
            <a:headEnd len="sm" w="sm" type="none"/>
            <a:tailEnd len="sm" w="sm" type="none"/>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777240" y="2011680"/>
            <a:ext cx="3429000" cy="53035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1E2A1C"/>
              </a:buClr>
              <a:buSzPts val="1450"/>
              <a:buFont typeface="Calibri"/>
              <a:buNone/>
            </a:pPr>
            <a:r>
              <a:rPr b="1" i="0" lang="en-US" sz="1450" u="none" cap="none" strike="noStrike">
                <a:solidFill>
                  <a:srgbClr val="1E2A1C"/>
                </a:solidFill>
                <a:latin typeface="Calibri"/>
                <a:ea typeface="Calibri"/>
                <a:cs typeface="Calibri"/>
                <a:sym typeface="Calibri"/>
              </a:rPr>
              <a:t>Bild in   </a:t>
            </a:r>
            <a:r>
              <a:rPr b="0" i="0" lang="en-US" sz="1050" u="none" cap="none" strike="noStrike">
                <a:solidFill>
                  <a:srgbClr val="5B6B58"/>
                </a:solidFill>
                <a:latin typeface="Calibri"/>
                <a:ea typeface="Calibri"/>
                <a:cs typeface="Calibri"/>
                <a:sym typeface="Calibri"/>
              </a:rPr>
              <a:t>224×224 px</a:t>
            </a:r>
            <a:endParaRPr b="0" i="0" sz="1450" u="none" cap="none" strike="noStrike">
              <a:solidFill>
                <a:schemeClr val="dk1"/>
              </a:solidFill>
              <a:latin typeface="Calibri"/>
              <a:ea typeface="Calibri"/>
              <a:cs typeface="Calibri"/>
              <a:sym typeface="Calibri"/>
            </a:endParaRPr>
          </a:p>
        </p:txBody>
      </p:sp>
      <p:sp>
        <p:nvSpPr>
          <p:cNvPr id="136" name="Google Shape;136;p5"/>
          <p:cNvSpPr/>
          <p:nvPr/>
        </p:nvSpPr>
        <p:spPr>
          <a:xfrm>
            <a:off x="2171700" y="2496312"/>
            <a:ext cx="54864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58"/>
              </a:buClr>
              <a:buSzPts val="1400"/>
              <a:buFont typeface="Calibri"/>
              <a:buNone/>
            </a:pPr>
            <a:r>
              <a:rPr b="1" i="0" lang="en-US" sz="1400" u="none" cap="none" strike="noStrike">
                <a:solidFill>
                  <a:srgbClr val="5B6B58"/>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37" name="Google Shape;137;p5"/>
          <p:cNvSpPr/>
          <p:nvPr/>
        </p:nvSpPr>
        <p:spPr>
          <a:xfrm>
            <a:off x="548640" y="2724912"/>
            <a:ext cx="3794760" cy="530352"/>
          </a:xfrm>
          <a:prstGeom prst="roundRect">
            <a:avLst>
              <a:gd fmla="val 13793" name="adj"/>
            </a:avLst>
          </a:prstGeom>
          <a:solidFill>
            <a:srgbClr val="F1F5EC"/>
          </a:solidFill>
          <a:ln cap="flat" cmpd="sng" w="12700">
            <a:solidFill>
              <a:srgbClr val="97BC62"/>
            </a:solidFill>
            <a:prstDash val="solid"/>
            <a:round/>
            <a:headEnd len="sm" w="sm" type="none"/>
            <a:tailEnd len="sm" w="sm" type="none"/>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p:nvPr/>
        </p:nvSpPr>
        <p:spPr>
          <a:xfrm>
            <a:off x="777240" y="2724912"/>
            <a:ext cx="3429000" cy="53035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1E2A1C"/>
              </a:buClr>
              <a:buSzPts val="1450"/>
              <a:buFont typeface="Calibri"/>
              <a:buNone/>
            </a:pPr>
            <a:r>
              <a:rPr b="1" i="0" lang="en-US" sz="1450" u="none" cap="none" strike="noStrike">
                <a:solidFill>
                  <a:srgbClr val="1E2A1C"/>
                </a:solidFill>
                <a:latin typeface="Calibri"/>
                <a:ea typeface="Calibri"/>
                <a:cs typeface="Calibri"/>
                <a:sym typeface="Calibri"/>
              </a:rPr>
              <a:t>Augmentering   </a:t>
            </a:r>
            <a:r>
              <a:rPr b="0" i="0" lang="en-US" sz="1050" u="none" cap="none" strike="noStrike">
                <a:solidFill>
                  <a:srgbClr val="5B6B58"/>
                </a:solidFill>
                <a:latin typeface="Calibri"/>
                <a:ea typeface="Calibri"/>
                <a:cs typeface="Calibri"/>
                <a:sym typeface="Calibri"/>
              </a:rPr>
              <a:t>flip · rotera · zoom · kontrast</a:t>
            </a:r>
            <a:endParaRPr b="0" i="0" sz="145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5B6B58"/>
              </a:buClr>
              <a:buSzPts val="1050"/>
              <a:buFont typeface="Calibri"/>
              <a:buNone/>
            </a:pPr>
            <a:r>
              <a:rPr b="0" i="0" lang="en-US" sz="1050" u="none" cap="none" strike="noStrike">
                <a:solidFill>
                  <a:srgbClr val="5B6B58"/>
                </a:solidFill>
                <a:latin typeface="Calibri"/>
                <a:ea typeface="Calibri"/>
                <a:cs typeface="Calibri"/>
                <a:sym typeface="Calibri"/>
              </a:rPr>
              <a:t>(endast vid träning)</a:t>
            </a:r>
            <a:endParaRPr b="0" i="0" sz="1450" u="none" cap="none" strike="noStrike">
              <a:solidFill>
                <a:schemeClr val="dk1"/>
              </a:solidFill>
              <a:latin typeface="Calibri"/>
              <a:ea typeface="Calibri"/>
              <a:cs typeface="Calibri"/>
              <a:sym typeface="Calibri"/>
            </a:endParaRPr>
          </a:p>
        </p:txBody>
      </p:sp>
      <p:sp>
        <p:nvSpPr>
          <p:cNvPr id="139" name="Google Shape;139;p5"/>
          <p:cNvSpPr/>
          <p:nvPr/>
        </p:nvSpPr>
        <p:spPr>
          <a:xfrm>
            <a:off x="2171700" y="3209544"/>
            <a:ext cx="54864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58"/>
              </a:buClr>
              <a:buSzPts val="1400"/>
              <a:buFont typeface="Calibri"/>
              <a:buNone/>
            </a:pPr>
            <a:r>
              <a:rPr b="1" i="0" lang="en-US" sz="1400" u="none" cap="none" strike="noStrike">
                <a:solidFill>
                  <a:srgbClr val="5B6B58"/>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40" name="Google Shape;140;p5"/>
          <p:cNvSpPr/>
          <p:nvPr/>
        </p:nvSpPr>
        <p:spPr>
          <a:xfrm>
            <a:off x="548640" y="3438144"/>
            <a:ext cx="3794760" cy="530352"/>
          </a:xfrm>
          <a:prstGeom prst="roundRect">
            <a:avLst>
              <a:gd fmla="val 13793" name="adj"/>
            </a:avLst>
          </a:prstGeom>
          <a:solidFill>
            <a:srgbClr val="F1F5EC"/>
          </a:solidFill>
          <a:ln cap="flat" cmpd="sng" w="12700">
            <a:solidFill>
              <a:srgbClr val="97BC62"/>
            </a:solidFill>
            <a:prstDash val="solid"/>
            <a:round/>
            <a:headEnd len="sm" w="sm" type="none"/>
            <a:tailEnd len="sm" w="sm" type="none"/>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777240" y="3438144"/>
            <a:ext cx="3429000" cy="53035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1E2A1C"/>
              </a:buClr>
              <a:buSzPts val="1450"/>
              <a:buFont typeface="Calibri"/>
              <a:buNone/>
            </a:pPr>
            <a:r>
              <a:rPr b="1" i="0" lang="en-US" sz="1450" u="none" cap="none" strike="noStrike">
                <a:solidFill>
                  <a:srgbClr val="1E2A1C"/>
                </a:solidFill>
                <a:latin typeface="Calibri"/>
                <a:ea typeface="Calibri"/>
                <a:cs typeface="Calibri"/>
                <a:sym typeface="Calibri"/>
              </a:rPr>
              <a:t>Förbehandling   </a:t>
            </a:r>
            <a:r>
              <a:rPr b="0" i="0" lang="en-US" sz="1050" u="none" cap="none" strike="noStrike">
                <a:solidFill>
                  <a:srgbClr val="5B6B58"/>
                </a:solidFill>
                <a:latin typeface="Calibri"/>
                <a:ea typeface="Calibri"/>
                <a:cs typeface="Calibri"/>
                <a:sym typeface="Calibri"/>
              </a:rPr>
              <a:t>skalning inbyggd</a:t>
            </a:r>
            <a:endParaRPr b="0" i="0" sz="1450" u="none" cap="none" strike="noStrike">
              <a:solidFill>
                <a:schemeClr val="dk1"/>
              </a:solidFill>
              <a:latin typeface="Calibri"/>
              <a:ea typeface="Calibri"/>
              <a:cs typeface="Calibri"/>
              <a:sym typeface="Calibri"/>
            </a:endParaRPr>
          </a:p>
        </p:txBody>
      </p:sp>
      <p:sp>
        <p:nvSpPr>
          <p:cNvPr id="142" name="Google Shape;142;p5"/>
          <p:cNvSpPr/>
          <p:nvPr/>
        </p:nvSpPr>
        <p:spPr>
          <a:xfrm>
            <a:off x="2171700" y="3922776"/>
            <a:ext cx="54864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58"/>
              </a:buClr>
              <a:buSzPts val="1400"/>
              <a:buFont typeface="Calibri"/>
              <a:buNone/>
            </a:pPr>
            <a:r>
              <a:rPr b="1" i="0" lang="en-US" sz="1400" u="none" cap="none" strike="noStrike">
                <a:solidFill>
                  <a:srgbClr val="5B6B58"/>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43" name="Google Shape;143;p5"/>
          <p:cNvSpPr/>
          <p:nvPr/>
        </p:nvSpPr>
        <p:spPr>
          <a:xfrm>
            <a:off x="548640" y="4151376"/>
            <a:ext cx="3794760" cy="530352"/>
          </a:xfrm>
          <a:prstGeom prst="roundRect">
            <a:avLst>
              <a:gd fmla="val 13793" name="adj"/>
            </a:avLst>
          </a:prstGeom>
          <a:solidFill>
            <a:srgbClr val="2C5F2D"/>
          </a:solidFill>
          <a:ln cap="flat" cmpd="sng" w="12700">
            <a:solidFill>
              <a:srgbClr val="2C5F2D"/>
            </a:solidFill>
            <a:prstDash val="solid"/>
            <a:round/>
            <a:headEnd len="sm" w="sm" type="none"/>
            <a:tailEnd len="sm" w="sm" type="none"/>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777240" y="4151376"/>
            <a:ext cx="3429000" cy="53035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FFFF"/>
              </a:buClr>
              <a:buSzPts val="1450"/>
              <a:buFont typeface="Calibri"/>
              <a:buNone/>
            </a:pPr>
            <a:r>
              <a:rPr b="1" i="0" lang="en-US" sz="1450" u="none" cap="none" strike="noStrike">
                <a:solidFill>
                  <a:srgbClr val="FFFFFF"/>
                </a:solidFill>
                <a:latin typeface="Calibri"/>
                <a:ea typeface="Calibri"/>
                <a:cs typeface="Calibri"/>
                <a:sym typeface="Calibri"/>
              </a:rPr>
              <a:t>EfficientNetV2B0   </a:t>
            </a:r>
            <a:r>
              <a:rPr b="0" i="0" lang="en-US" sz="1050" u="none" cap="none" strike="noStrike">
                <a:solidFill>
                  <a:srgbClr val="D8E3D2"/>
                </a:solidFill>
                <a:latin typeface="Calibri"/>
                <a:ea typeface="Calibri"/>
                <a:cs typeface="Calibri"/>
                <a:sym typeface="Calibri"/>
              </a:rPr>
              <a:t>RYGGRAD FRUSEN i steg 1</a:t>
            </a:r>
            <a:endParaRPr b="0" i="0" sz="1450" u="none" cap="none" strike="noStrike">
              <a:solidFill>
                <a:schemeClr val="dk1"/>
              </a:solidFill>
              <a:latin typeface="Calibri"/>
              <a:ea typeface="Calibri"/>
              <a:cs typeface="Calibri"/>
              <a:sym typeface="Calibri"/>
            </a:endParaRPr>
          </a:p>
        </p:txBody>
      </p:sp>
      <p:sp>
        <p:nvSpPr>
          <p:cNvPr id="145" name="Google Shape;145;p5"/>
          <p:cNvSpPr/>
          <p:nvPr/>
        </p:nvSpPr>
        <p:spPr>
          <a:xfrm>
            <a:off x="2171700" y="4636008"/>
            <a:ext cx="54864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58"/>
              </a:buClr>
              <a:buSzPts val="1400"/>
              <a:buFont typeface="Calibri"/>
              <a:buNone/>
            </a:pPr>
            <a:r>
              <a:rPr b="1" i="0" lang="en-US" sz="1400" u="none" cap="none" strike="noStrike">
                <a:solidFill>
                  <a:srgbClr val="5B6B58"/>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46" name="Google Shape;146;p5"/>
          <p:cNvSpPr/>
          <p:nvPr/>
        </p:nvSpPr>
        <p:spPr>
          <a:xfrm>
            <a:off x="548640" y="4864608"/>
            <a:ext cx="3794760" cy="530352"/>
          </a:xfrm>
          <a:prstGeom prst="roundRect">
            <a:avLst>
              <a:gd fmla="val 13793" name="adj"/>
            </a:avLst>
          </a:prstGeom>
          <a:solidFill>
            <a:srgbClr val="F1F5EC"/>
          </a:solidFill>
          <a:ln cap="flat" cmpd="sng" w="12700">
            <a:solidFill>
              <a:srgbClr val="97BC62"/>
            </a:solidFill>
            <a:prstDash val="solid"/>
            <a:round/>
            <a:headEnd len="sm" w="sm" type="none"/>
            <a:tailEnd len="sm" w="sm" type="none"/>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777240" y="4864608"/>
            <a:ext cx="3429000" cy="53035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1E2A1C"/>
              </a:buClr>
              <a:buSzPts val="1450"/>
              <a:buFont typeface="Calibri"/>
              <a:buNone/>
            </a:pPr>
            <a:r>
              <a:rPr b="1" i="0" lang="en-US" sz="1450" u="none" cap="none" strike="noStrike">
                <a:solidFill>
                  <a:srgbClr val="1E2A1C"/>
                </a:solidFill>
                <a:latin typeface="Calibri"/>
                <a:ea typeface="Calibri"/>
                <a:cs typeface="Calibri"/>
                <a:sym typeface="Calibri"/>
              </a:rPr>
              <a:t>Pooling + Dropout   </a:t>
            </a:r>
            <a:r>
              <a:rPr b="0" i="0" lang="en-US" sz="1050" u="none" cap="none" strike="noStrike">
                <a:solidFill>
                  <a:srgbClr val="5B6B58"/>
                </a:solidFill>
                <a:latin typeface="Calibri"/>
                <a:ea typeface="Calibri"/>
                <a:cs typeface="Calibri"/>
                <a:sym typeface="Calibri"/>
              </a:rPr>
              <a:t>GlobalAvgPool → Dropout 0,3</a:t>
            </a:r>
            <a:endParaRPr b="0" i="0" sz="1450" u="none" cap="none" strike="noStrike">
              <a:solidFill>
                <a:schemeClr val="dk1"/>
              </a:solidFill>
              <a:latin typeface="Calibri"/>
              <a:ea typeface="Calibri"/>
              <a:cs typeface="Calibri"/>
              <a:sym typeface="Calibri"/>
            </a:endParaRPr>
          </a:p>
        </p:txBody>
      </p:sp>
      <p:sp>
        <p:nvSpPr>
          <p:cNvPr id="148" name="Google Shape;148;p5"/>
          <p:cNvSpPr/>
          <p:nvPr/>
        </p:nvSpPr>
        <p:spPr>
          <a:xfrm>
            <a:off x="2171700" y="5349240"/>
            <a:ext cx="54864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B6B58"/>
              </a:buClr>
              <a:buSzPts val="1400"/>
              <a:buFont typeface="Calibri"/>
              <a:buNone/>
            </a:pPr>
            <a:r>
              <a:rPr b="1" i="0" lang="en-US" sz="1400" u="none" cap="none" strike="noStrike">
                <a:solidFill>
                  <a:srgbClr val="5B6B58"/>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49" name="Google Shape;149;p5"/>
          <p:cNvSpPr/>
          <p:nvPr/>
        </p:nvSpPr>
        <p:spPr>
          <a:xfrm>
            <a:off x="548640" y="5577840"/>
            <a:ext cx="3794760" cy="530352"/>
          </a:xfrm>
          <a:prstGeom prst="roundRect">
            <a:avLst>
              <a:gd fmla="val 13793" name="adj"/>
            </a:avLst>
          </a:prstGeom>
          <a:solidFill>
            <a:srgbClr val="D8A13A"/>
          </a:solidFill>
          <a:ln cap="flat" cmpd="sng" w="12700">
            <a:solidFill>
              <a:srgbClr val="D8A13A"/>
            </a:solidFill>
            <a:prstDash val="solid"/>
            <a:round/>
            <a:headEnd len="sm" w="sm" type="none"/>
            <a:tailEnd len="sm" w="sm" type="none"/>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
          <p:cNvSpPr/>
          <p:nvPr/>
        </p:nvSpPr>
        <p:spPr>
          <a:xfrm>
            <a:off x="777240" y="5577840"/>
            <a:ext cx="3429000" cy="53035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17331A"/>
              </a:buClr>
              <a:buSzPts val="1450"/>
              <a:buFont typeface="Calibri"/>
              <a:buNone/>
            </a:pPr>
            <a:r>
              <a:rPr b="1" i="0" lang="en-US" sz="1450" u="none" cap="none" strike="noStrike">
                <a:solidFill>
                  <a:srgbClr val="17331A"/>
                </a:solidFill>
                <a:latin typeface="Calibri"/>
                <a:ea typeface="Calibri"/>
                <a:cs typeface="Calibri"/>
                <a:sym typeface="Calibri"/>
              </a:rPr>
              <a:t>Dense(5, softmax)   </a:t>
            </a:r>
            <a:r>
              <a:rPr b="0" i="0" lang="en-US" sz="1050" u="none" cap="none" strike="noStrike">
                <a:solidFill>
                  <a:srgbClr val="5A4A16"/>
                </a:solidFill>
                <a:latin typeface="Calibri"/>
                <a:ea typeface="Calibri"/>
                <a:cs typeface="Calibri"/>
                <a:sym typeface="Calibri"/>
              </a:rPr>
              <a:t>NY TOPP tränas</a:t>
            </a:r>
            <a:endParaRPr b="0" i="0" sz="1450" u="none" cap="none" strike="noStrike">
              <a:solidFill>
                <a:schemeClr val="dk1"/>
              </a:solidFill>
              <a:latin typeface="Calibri"/>
              <a:ea typeface="Calibri"/>
              <a:cs typeface="Calibri"/>
              <a:sym typeface="Calibri"/>
            </a:endParaRPr>
          </a:p>
        </p:txBody>
      </p:sp>
      <p:sp>
        <p:nvSpPr>
          <p:cNvPr id="151" name="Google Shape;151;p5"/>
          <p:cNvSpPr/>
          <p:nvPr/>
        </p:nvSpPr>
        <p:spPr>
          <a:xfrm>
            <a:off x="4800600" y="2331720"/>
            <a:ext cx="6839712" cy="1828800"/>
          </a:xfrm>
          <a:prstGeom prst="roundRect">
            <a:avLst>
              <a:gd fmla="val 5000"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5074920" y="2468880"/>
            <a:ext cx="237744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5F2D"/>
              </a:buClr>
              <a:buSzPts val="4600"/>
              <a:buFont typeface="Century Schoolbook"/>
              <a:buNone/>
            </a:pPr>
            <a:r>
              <a:rPr b="1" i="0" lang="en-US" sz="4600" u="none" cap="none" strike="noStrike">
                <a:solidFill>
                  <a:srgbClr val="2C5F2D"/>
                </a:solidFill>
                <a:latin typeface="Century Schoolbook"/>
                <a:ea typeface="Century Schoolbook"/>
                <a:cs typeface="Century Schoolbook"/>
                <a:sym typeface="Century Schoolbook"/>
              </a:rPr>
              <a:t>6 405</a:t>
            </a:r>
            <a:endParaRPr b="0" i="0" sz="4600" u="none" cap="none" strike="noStrike">
              <a:solidFill>
                <a:schemeClr val="dk1"/>
              </a:solidFill>
              <a:latin typeface="Calibri"/>
              <a:ea typeface="Calibri"/>
              <a:cs typeface="Calibri"/>
              <a:sym typeface="Calibri"/>
            </a:endParaRPr>
          </a:p>
        </p:txBody>
      </p:sp>
      <p:sp>
        <p:nvSpPr>
          <p:cNvPr id="153" name="Google Shape;153;p5"/>
          <p:cNvSpPr/>
          <p:nvPr/>
        </p:nvSpPr>
        <p:spPr>
          <a:xfrm>
            <a:off x="7269480" y="2487168"/>
            <a:ext cx="4160520" cy="155448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1E2A1C"/>
              </a:buClr>
              <a:buSzPts val="1400"/>
              <a:buFont typeface="Calibri"/>
              <a:buNone/>
            </a:pPr>
            <a:r>
              <a:rPr b="1" i="0" lang="en-US" sz="1400" u="none" cap="none" strike="noStrike">
                <a:solidFill>
                  <a:srgbClr val="1E2A1C"/>
                </a:solidFill>
                <a:latin typeface="Calibri"/>
                <a:ea typeface="Calibri"/>
                <a:cs typeface="Calibri"/>
                <a:sym typeface="Calibri"/>
              </a:rPr>
              <a:t>träningsbara parametrar i steg 1</a:t>
            </a:r>
            <a:endParaRPr b="0" i="0" sz="1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5B6B58"/>
              </a:buClr>
              <a:buSzPts val="1400"/>
              <a:buFont typeface="Calibri"/>
              <a:buNone/>
            </a:pPr>
            <a:r>
              <a:rPr b="0" i="0" lang="en-US" sz="1400" u="none" cap="none" strike="noStrike">
                <a:solidFill>
                  <a:srgbClr val="5B6B58"/>
                </a:solidFill>
                <a:latin typeface="Calibri"/>
                <a:ea typeface="Calibri"/>
                <a:cs typeface="Calibri"/>
                <a:sym typeface="Calibri"/>
              </a:rPr>
              <a:t>av 5,9 miljoner. Så lite att modellen nästan inte kan överanpassa och tränar mycket snabbt.</a:t>
            </a:r>
            <a:endParaRPr b="0" i="0" sz="1400" u="none" cap="none" strike="noStrike">
              <a:solidFill>
                <a:schemeClr val="dk1"/>
              </a:solidFill>
              <a:latin typeface="Calibri"/>
              <a:ea typeface="Calibri"/>
              <a:cs typeface="Calibri"/>
              <a:sym typeface="Calibri"/>
            </a:endParaRPr>
          </a:p>
        </p:txBody>
      </p:sp>
      <p:sp>
        <p:nvSpPr>
          <p:cNvPr id="154" name="Google Shape;154;p5"/>
          <p:cNvSpPr/>
          <p:nvPr/>
        </p:nvSpPr>
        <p:spPr>
          <a:xfrm>
            <a:off x="4800600" y="4389120"/>
            <a:ext cx="6839712" cy="1874520"/>
          </a:xfrm>
          <a:prstGeom prst="roundRect">
            <a:avLst>
              <a:gd fmla="val 4878" name="adj"/>
            </a:avLst>
          </a:prstGeom>
          <a:solidFill>
            <a:srgbClr val="1733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5120640" y="4709160"/>
            <a:ext cx="548640" cy="548640"/>
          </a:xfrm>
          <a:prstGeom prst="ellipse">
            <a:avLst/>
          </a:prstGeom>
          <a:solidFill>
            <a:srgbClr val="97BC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6" name="Google Shape;156;p5"/>
          <p:cNvPicPr preferRelativeResize="0"/>
          <p:nvPr/>
        </p:nvPicPr>
        <p:blipFill rotWithShape="1">
          <a:blip r:embed="rId4">
            <a:alphaModFix/>
          </a:blip>
          <a:srcRect b="0" l="0" r="0" t="0"/>
          <a:stretch/>
        </p:blipFill>
        <p:spPr>
          <a:xfrm>
            <a:off x="5191963" y="4780483"/>
            <a:ext cx="405994" cy="405994"/>
          </a:xfrm>
          <a:prstGeom prst="rect">
            <a:avLst/>
          </a:prstGeom>
          <a:noFill/>
          <a:ln>
            <a:noFill/>
          </a:ln>
        </p:spPr>
      </p:pic>
      <p:sp>
        <p:nvSpPr>
          <p:cNvPr id="157" name="Google Shape;157;p5"/>
          <p:cNvSpPr/>
          <p:nvPr/>
        </p:nvSpPr>
        <p:spPr>
          <a:xfrm>
            <a:off x="5806440" y="4617720"/>
            <a:ext cx="55778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7BC62"/>
              </a:buClr>
              <a:buSzPts val="1700"/>
              <a:buFont typeface="Century Schoolbook"/>
              <a:buNone/>
            </a:pPr>
            <a:r>
              <a:rPr b="1" i="0" lang="en-US" sz="1700" u="none" cap="none" strike="noStrike">
                <a:solidFill>
                  <a:srgbClr val="97BC62"/>
                </a:solidFill>
                <a:latin typeface="Century Schoolbook"/>
                <a:ea typeface="Century Schoolbook"/>
                <a:cs typeface="Century Schoolbook"/>
                <a:sym typeface="Century Schoolbook"/>
              </a:rPr>
              <a:t>Ärlig utvärdering, inbyggd</a:t>
            </a:r>
            <a:endParaRPr b="0" i="0" sz="1700" u="none" cap="none" strike="noStrike">
              <a:solidFill>
                <a:schemeClr val="dk1"/>
              </a:solidFill>
              <a:latin typeface="Calibri"/>
              <a:ea typeface="Calibri"/>
              <a:cs typeface="Calibri"/>
              <a:sym typeface="Calibri"/>
            </a:endParaRPr>
          </a:p>
        </p:txBody>
      </p:sp>
      <p:sp>
        <p:nvSpPr>
          <p:cNvPr id="158" name="Google Shape;158;p5"/>
          <p:cNvSpPr/>
          <p:nvPr/>
        </p:nvSpPr>
        <p:spPr>
          <a:xfrm>
            <a:off x="5806440" y="5029200"/>
            <a:ext cx="5577840" cy="1097280"/>
          </a:xfrm>
          <a:prstGeom prst="rect">
            <a:avLst/>
          </a:prstGeom>
          <a:noFill/>
          <a:ln>
            <a:noFill/>
          </a:ln>
        </p:spPr>
        <p:txBody>
          <a:bodyPr anchorCtr="0" anchor="t" bIns="45700" lIns="91425" spcFirstLastPara="1" rIns="91425" wrap="square" tIns="45700">
            <a:noAutofit/>
          </a:bodyPr>
          <a:lstStyle/>
          <a:p>
            <a:pPr indent="0" lvl="0" marL="0" marR="0" rtl="0" algn="l">
              <a:lnSpc>
                <a:spcPct val="114000"/>
              </a:lnSpc>
              <a:spcBef>
                <a:spcPts val="0"/>
              </a:spcBef>
              <a:spcAft>
                <a:spcPts val="0"/>
              </a:spcAft>
              <a:buClr>
                <a:srgbClr val="FFFFFF"/>
              </a:buClr>
              <a:buSzPts val="1350"/>
              <a:buFont typeface="Calibri"/>
              <a:buNone/>
            </a:pPr>
            <a:r>
              <a:rPr b="0" i="0" lang="en-US" sz="1350" u="none" cap="none" strike="noStrike">
                <a:solidFill>
                  <a:srgbClr val="FFFFFF"/>
                </a:solidFill>
                <a:latin typeface="Calibri"/>
                <a:ea typeface="Calibri"/>
                <a:cs typeface="Calibri"/>
                <a:sym typeface="Calibri"/>
              </a:rPr>
              <a:t>Augmentering körs bara under träning. Testdelen (15 %) rörs exakt en gång</a:t>
            </a:r>
            <a:r>
              <a:rPr lang="en-US" sz="1350">
                <a:solidFill>
                  <a:srgbClr val="FFFFFF"/>
                </a:solidFill>
                <a:latin typeface="Calibri"/>
                <a:ea typeface="Calibri"/>
                <a:cs typeface="Calibri"/>
                <a:sym typeface="Calibri"/>
              </a:rPr>
              <a:t> </a:t>
            </a:r>
            <a:r>
              <a:rPr b="0" i="0" lang="en-US" sz="1350" u="none" cap="none" strike="noStrike">
                <a:solidFill>
                  <a:srgbClr val="FFFFFF"/>
                </a:solidFill>
                <a:latin typeface="Calibri"/>
                <a:ea typeface="Calibri"/>
                <a:cs typeface="Calibri"/>
                <a:sym typeface="Calibri"/>
              </a:rPr>
              <a:t>allra sist. Det är den siffran vi rapporterar.</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6"/>
          <p:cNvSpPr/>
          <p:nvPr/>
        </p:nvSpPr>
        <p:spPr>
          <a:xfrm>
            <a:off x="548640" y="457200"/>
            <a:ext cx="566928" cy="566928"/>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5" name="Google Shape;165;p6"/>
          <p:cNvPicPr preferRelativeResize="0"/>
          <p:nvPr/>
        </p:nvPicPr>
        <p:blipFill rotWithShape="1">
          <a:blip r:embed="rId3">
            <a:alphaModFix/>
          </a:blip>
          <a:srcRect b="0" l="0" r="0" t="0"/>
          <a:stretch/>
        </p:blipFill>
        <p:spPr>
          <a:xfrm>
            <a:off x="622341" y="530901"/>
            <a:ext cx="419527" cy="419527"/>
          </a:xfrm>
          <a:prstGeom prst="rect">
            <a:avLst/>
          </a:prstGeom>
          <a:noFill/>
          <a:ln>
            <a:noFill/>
          </a:ln>
        </p:spPr>
      </p:pic>
      <p:sp>
        <p:nvSpPr>
          <p:cNvPr id="166" name="Google Shape;166;p6"/>
          <p:cNvSpPr/>
          <p:nvPr/>
        </p:nvSpPr>
        <p:spPr>
          <a:xfrm>
            <a:off x="1234440" y="402336"/>
            <a:ext cx="104241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A1C"/>
              </a:buClr>
              <a:buSzPts val="2700"/>
              <a:buFont typeface="Century Schoolbook"/>
              <a:buNone/>
            </a:pPr>
            <a:r>
              <a:rPr b="1" i="0" lang="en-US" sz="2700" u="none" cap="none" strike="noStrike">
                <a:solidFill>
                  <a:srgbClr val="1E2A1C"/>
                </a:solidFill>
                <a:latin typeface="Century Schoolbook"/>
                <a:ea typeface="Century Schoolbook"/>
                <a:cs typeface="Century Schoolbook"/>
                <a:sym typeface="Century Schoolbook"/>
              </a:rPr>
              <a:t>Träning i två steg</a:t>
            </a:r>
            <a:endParaRPr b="0" i="0" sz="2700" u="none" cap="none" strike="noStrike">
              <a:solidFill>
                <a:schemeClr val="dk1"/>
              </a:solidFill>
              <a:latin typeface="Calibri"/>
              <a:ea typeface="Calibri"/>
              <a:cs typeface="Calibri"/>
              <a:sym typeface="Calibri"/>
            </a:endParaRPr>
          </a:p>
        </p:txBody>
      </p:sp>
      <p:sp>
        <p:nvSpPr>
          <p:cNvPr id="167" name="Google Shape;167;p6"/>
          <p:cNvSpPr/>
          <p:nvPr/>
        </p:nvSpPr>
        <p:spPr>
          <a:xfrm>
            <a:off x="548640" y="1417320"/>
            <a:ext cx="5513832" cy="3246120"/>
          </a:xfrm>
          <a:prstGeom prst="roundRect">
            <a:avLst>
              <a:gd fmla="val 2817"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868680" y="1737360"/>
            <a:ext cx="566928" cy="566928"/>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9" name="Google Shape;169;p6"/>
          <p:cNvPicPr preferRelativeResize="0"/>
          <p:nvPr/>
        </p:nvPicPr>
        <p:blipFill rotWithShape="1">
          <a:blip r:embed="rId4">
            <a:alphaModFix/>
          </a:blip>
          <a:srcRect b="0" l="0" r="0" t="0"/>
          <a:stretch/>
        </p:blipFill>
        <p:spPr>
          <a:xfrm>
            <a:off x="942381" y="1811061"/>
            <a:ext cx="419527" cy="419527"/>
          </a:xfrm>
          <a:prstGeom prst="rect">
            <a:avLst/>
          </a:prstGeom>
          <a:noFill/>
          <a:ln>
            <a:noFill/>
          </a:ln>
        </p:spPr>
      </p:pic>
      <p:sp>
        <p:nvSpPr>
          <p:cNvPr id="170" name="Google Shape;170;p6"/>
          <p:cNvSpPr/>
          <p:nvPr/>
        </p:nvSpPr>
        <p:spPr>
          <a:xfrm>
            <a:off x="1600200" y="173736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5F2D"/>
              </a:buClr>
              <a:buSzPts val="1200"/>
              <a:buFont typeface="Calibri"/>
              <a:buNone/>
            </a:pPr>
            <a:r>
              <a:rPr b="1" i="0" lang="en-US" sz="1200" u="none" cap="none" strike="noStrike">
                <a:solidFill>
                  <a:srgbClr val="2C5F2D"/>
                </a:solidFill>
                <a:latin typeface="Calibri"/>
                <a:ea typeface="Calibri"/>
                <a:cs typeface="Calibri"/>
                <a:sym typeface="Calibri"/>
              </a:rPr>
              <a:t>STEG 1</a:t>
            </a:r>
            <a:endParaRPr b="0" i="0" sz="1200" u="none" cap="none" strike="noStrike">
              <a:solidFill>
                <a:schemeClr val="dk1"/>
              </a:solidFill>
              <a:latin typeface="Calibri"/>
              <a:ea typeface="Calibri"/>
              <a:cs typeface="Calibri"/>
              <a:sym typeface="Calibri"/>
            </a:endParaRPr>
          </a:p>
        </p:txBody>
      </p:sp>
      <p:sp>
        <p:nvSpPr>
          <p:cNvPr id="171" name="Google Shape;171;p6"/>
          <p:cNvSpPr/>
          <p:nvPr/>
        </p:nvSpPr>
        <p:spPr>
          <a:xfrm>
            <a:off x="1600200" y="2048256"/>
            <a:ext cx="4206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A1C"/>
              </a:buClr>
              <a:buSzPts val="2100"/>
              <a:buFont typeface="Century Schoolbook"/>
              <a:buNone/>
            </a:pPr>
            <a:r>
              <a:rPr b="1" i="0" lang="en-US" sz="2100" u="none" cap="none" strike="noStrike">
                <a:solidFill>
                  <a:srgbClr val="1E2A1C"/>
                </a:solidFill>
                <a:latin typeface="Century Schoolbook"/>
                <a:ea typeface="Century Schoolbook"/>
                <a:cs typeface="Century Schoolbook"/>
                <a:sym typeface="Century Schoolbook"/>
              </a:rPr>
              <a:t>Feature extraction</a:t>
            </a:r>
            <a:endParaRPr b="0" i="0" sz="2100" u="none" cap="none" strike="noStrike">
              <a:solidFill>
                <a:schemeClr val="dk1"/>
              </a:solidFill>
              <a:latin typeface="Calibri"/>
              <a:ea typeface="Calibri"/>
              <a:cs typeface="Calibri"/>
              <a:sym typeface="Calibri"/>
            </a:endParaRPr>
          </a:p>
        </p:txBody>
      </p:sp>
      <p:sp>
        <p:nvSpPr>
          <p:cNvPr id="172" name="Google Shape;172;p6"/>
          <p:cNvSpPr/>
          <p:nvPr/>
        </p:nvSpPr>
        <p:spPr>
          <a:xfrm>
            <a:off x="932688" y="2843784"/>
            <a:ext cx="128016" cy="128016"/>
          </a:xfrm>
          <a:prstGeom prst="ellipse">
            <a:avLst/>
          </a:prstGeom>
          <a:solidFill>
            <a:srgbClr val="97BC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1170432" y="2688336"/>
            <a:ext cx="4709160" cy="59436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2C5F2D"/>
              </a:buClr>
              <a:buSzPts val="1250"/>
              <a:buFont typeface="Calibri"/>
              <a:buNone/>
            </a:pPr>
            <a:r>
              <a:rPr b="1" i="0" lang="en-US" sz="1250" u="none" cap="none" strike="noStrike">
                <a:solidFill>
                  <a:srgbClr val="2C5F2D"/>
                </a:solidFill>
                <a:latin typeface="Calibri"/>
                <a:ea typeface="Calibri"/>
                <a:cs typeface="Calibri"/>
                <a:sym typeface="Calibri"/>
              </a:rPr>
              <a:t>Ryggraden fryst </a:t>
            </a:r>
            <a:r>
              <a:rPr b="0" i="0" lang="en-US" sz="1250" u="none" cap="none" strike="noStrike">
                <a:solidFill>
                  <a:srgbClr val="5B6B58"/>
                </a:solidFill>
                <a:latin typeface="Calibri"/>
                <a:ea typeface="Calibri"/>
                <a:cs typeface="Calibri"/>
                <a:sym typeface="Calibri"/>
              </a:rPr>
              <a:t>bara den nya toppen tränas</a:t>
            </a:r>
            <a:endParaRPr b="0" i="0" sz="1250" u="none" cap="none" strike="noStrike">
              <a:solidFill>
                <a:schemeClr val="dk1"/>
              </a:solidFill>
              <a:latin typeface="Calibri"/>
              <a:ea typeface="Calibri"/>
              <a:cs typeface="Calibri"/>
              <a:sym typeface="Calibri"/>
            </a:endParaRPr>
          </a:p>
        </p:txBody>
      </p:sp>
      <p:sp>
        <p:nvSpPr>
          <p:cNvPr id="174" name="Google Shape;174;p6"/>
          <p:cNvSpPr/>
          <p:nvPr/>
        </p:nvSpPr>
        <p:spPr>
          <a:xfrm>
            <a:off x="932688" y="3438144"/>
            <a:ext cx="128016" cy="128016"/>
          </a:xfrm>
          <a:prstGeom prst="ellipse">
            <a:avLst/>
          </a:prstGeom>
          <a:solidFill>
            <a:srgbClr val="97BC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1170432" y="3282696"/>
            <a:ext cx="4709160" cy="59436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2C5F2D"/>
              </a:buClr>
              <a:buSzPts val="1250"/>
              <a:buFont typeface="Calibri"/>
              <a:buNone/>
            </a:pPr>
            <a:r>
              <a:rPr b="1" i="0" lang="en-US" sz="1250" u="none" cap="none" strike="noStrike">
                <a:solidFill>
                  <a:srgbClr val="2C5F2D"/>
                </a:solidFill>
                <a:latin typeface="Calibri"/>
                <a:ea typeface="Calibri"/>
                <a:cs typeface="Calibri"/>
                <a:sym typeface="Calibri"/>
              </a:rPr>
              <a:t>Inlärningshastighet 1e-3 </a:t>
            </a:r>
            <a:r>
              <a:rPr b="0" i="0" lang="en-US" sz="1250" u="none" cap="none" strike="noStrike">
                <a:solidFill>
                  <a:srgbClr val="5B6B58"/>
                </a:solidFill>
                <a:latin typeface="Calibri"/>
                <a:ea typeface="Calibri"/>
                <a:cs typeface="Calibri"/>
                <a:sym typeface="Calibri"/>
              </a:rPr>
              <a:t>vi anpassar bara en linjär klassificerare</a:t>
            </a:r>
            <a:endParaRPr b="0" i="0" sz="1250" u="none" cap="none" strike="noStrike">
              <a:solidFill>
                <a:schemeClr val="dk1"/>
              </a:solidFill>
              <a:latin typeface="Calibri"/>
              <a:ea typeface="Calibri"/>
              <a:cs typeface="Calibri"/>
              <a:sym typeface="Calibri"/>
            </a:endParaRPr>
          </a:p>
        </p:txBody>
      </p:sp>
      <p:sp>
        <p:nvSpPr>
          <p:cNvPr id="176" name="Google Shape;176;p6"/>
          <p:cNvSpPr/>
          <p:nvPr/>
        </p:nvSpPr>
        <p:spPr>
          <a:xfrm>
            <a:off x="932688" y="4032504"/>
            <a:ext cx="128016" cy="128016"/>
          </a:xfrm>
          <a:prstGeom prst="ellipse">
            <a:avLst/>
          </a:prstGeom>
          <a:solidFill>
            <a:srgbClr val="97BC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1170432" y="3877056"/>
            <a:ext cx="4709160" cy="59436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2C5F2D"/>
              </a:buClr>
              <a:buSzPts val="1250"/>
              <a:buFont typeface="Calibri"/>
              <a:buNone/>
            </a:pPr>
            <a:r>
              <a:rPr b="1" i="0" lang="en-US" sz="1250" u="none" cap="none" strike="noStrike">
                <a:solidFill>
                  <a:srgbClr val="2C5F2D"/>
                </a:solidFill>
                <a:latin typeface="Calibri"/>
                <a:ea typeface="Calibri"/>
                <a:cs typeface="Calibri"/>
                <a:sym typeface="Calibri"/>
              </a:rPr>
              <a:t>12 epoker </a:t>
            </a:r>
            <a:r>
              <a:rPr b="0" i="0" lang="en-US" sz="1250" u="none" cap="none" strike="noStrike">
                <a:solidFill>
                  <a:srgbClr val="5B6B58"/>
                </a:solidFill>
                <a:latin typeface="Calibri"/>
                <a:ea typeface="Calibri"/>
                <a:cs typeface="Calibri"/>
                <a:sym typeface="Calibri"/>
              </a:rPr>
              <a:t>snabbt</a:t>
            </a:r>
            <a:r>
              <a:rPr lang="en-US" sz="1250">
                <a:solidFill>
                  <a:srgbClr val="5B6B58"/>
                </a:solidFill>
                <a:latin typeface="Calibri"/>
                <a:ea typeface="Calibri"/>
                <a:cs typeface="Calibri"/>
                <a:sym typeface="Calibri"/>
              </a:rPr>
              <a:t> </a:t>
            </a:r>
            <a:r>
              <a:rPr b="0" i="0" lang="en-US" sz="1250" u="none" cap="none" strike="noStrike">
                <a:solidFill>
                  <a:srgbClr val="5B6B58"/>
                </a:solidFill>
                <a:latin typeface="Calibri"/>
                <a:ea typeface="Calibri"/>
                <a:cs typeface="Calibri"/>
                <a:sym typeface="Calibri"/>
              </a:rPr>
              <a:t>nästan inget att överanpassa</a:t>
            </a:r>
            <a:endParaRPr b="0" i="0" sz="1250" u="none" cap="none" strike="noStrike">
              <a:solidFill>
                <a:schemeClr val="dk1"/>
              </a:solidFill>
              <a:latin typeface="Calibri"/>
              <a:ea typeface="Calibri"/>
              <a:cs typeface="Calibri"/>
              <a:sym typeface="Calibri"/>
            </a:endParaRPr>
          </a:p>
        </p:txBody>
      </p:sp>
      <p:sp>
        <p:nvSpPr>
          <p:cNvPr id="178" name="Google Shape;178;p6"/>
          <p:cNvSpPr/>
          <p:nvPr/>
        </p:nvSpPr>
        <p:spPr>
          <a:xfrm>
            <a:off x="6400800" y="1417320"/>
            <a:ext cx="5513832" cy="3246120"/>
          </a:xfrm>
          <a:prstGeom prst="roundRect">
            <a:avLst>
              <a:gd fmla="val 2817" name="adj"/>
            </a:avLst>
          </a:prstGeom>
          <a:solidFill>
            <a:srgbClr val="17331A"/>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6720840" y="1737360"/>
            <a:ext cx="566928" cy="566928"/>
          </a:xfrm>
          <a:prstGeom prst="ellipse">
            <a:avLst/>
          </a:prstGeom>
          <a:solidFill>
            <a:srgbClr val="D8A1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0" name="Google Shape;180;p6"/>
          <p:cNvPicPr preferRelativeResize="0"/>
          <p:nvPr/>
        </p:nvPicPr>
        <p:blipFill rotWithShape="1">
          <a:blip r:embed="rId5">
            <a:alphaModFix/>
          </a:blip>
          <a:srcRect b="0" l="0" r="0" t="0"/>
          <a:stretch/>
        </p:blipFill>
        <p:spPr>
          <a:xfrm>
            <a:off x="6794541" y="1811061"/>
            <a:ext cx="419527" cy="419527"/>
          </a:xfrm>
          <a:prstGeom prst="rect">
            <a:avLst/>
          </a:prstGeom>
          <a:noFill/>
          <a:ln>
            <a:noFill/>
          </a:ln>
        </p:spPr>
      </p:pic>
      <p:sp>
        <p:nvSpPr>
          <p:cNvPr id="181" name="Google Shape;181;p6"/>
          <p:cNvSpPr/>
          <p:nvPr/>
        </p:nvSpPr>
        <p:spPr>
          <a:xfrm>
            <a:off x="7452360" y="1737360"/>
            <a:ext cx="2743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8A13A"/>
              </a:buClr>
              <a:buSzPts val="1200"/>
              <a:buFont typeface="Calibri"/>
              <a:buNone/>
            </a:pPr>
            <a:r>
              <a:rPr b="1" i="0" lang="en-US" sz="1200" u="none" cap="none" strike="noStrike">
                <a:solidFill>
                  <a:srgbClr val="D8A13A"/>
                </a:solidFill>
                <a:latin typeface="Calibri"/>
                <a:ea typeface="Calibri"/>
                <a:cs typeface="Calibri"/>
                <a:sym typeface="Calibri"/>
              </a:rPr>
              <a:t>STEG 2</a:t>
            </a:r>
            <a:endParaRPr b="0" i="0" sz="1200" u="none" cap="none" strike="noStrike">
              <a:solidFill>
                <a:schemeClr val="dk1"/>
              </a:solidFill>
              <a:latin typeface="Calibri"/>
              <a:ea typeface="Calibri"/>
              <a:cs typeface="Calibri"/>
              <a:sym typeface="Calibri"/>
            </a:endParaRPr>
          </a:p>
        </p:txBody>
      </p:sp>
      <p:sp>
        <p:nvSpPr>
          <p:cNvPr id="182" name="Google Shape;182;p6"/>
          <p:cNvSpPr/>
          <p:nvPr/>
        </p:nvSpPr>
        <p:spPr>
          <a:xfrm>
            <a:off x="7452360" y="2048256"/>
            <a:ext cx="42062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100"/>
              <a:buFont typeface="Century Schoolbook"/>
              <a:buNone/>
            </a:pPr>
            <a:r>
              <a:rPr b="1" i="0" lang="en-US" sz="2100" u="none" cap="none" strike="noStrike">
                <a:solidFill>
                  <a:srgbClr val="FFFFFF"/>
                </a:solidFill>
                <a:latin typeface="Century Schoolbook"/>
                <a:ea typeface="Century Schoolbook"/>
                <a:cs typeface="Century Schoolbook"/>
                <a:sym typeface="Century Schoolbook"/>
              </a:rPr>
              <a:t>Fine-tuning</a:t>
            </a:r>
            <a:endParaRPr b="0" i="0" sz="2100" u="none" cap="none" strike="noStrike">
              <a:solidFill>
                <a:schemeClr val="dk1"/>
              </a:solidFill>
              <a:latin typeface="Calibri"/>
              <a:ea typeface="Calibri"/>
              <a:cs typeface="Calibri"/>
              <a:sym typeface="Calibri"/>
            </a:endParaRPr>
          </a:p>
        </p:txBody>
      </p:sp>
      <p:sp>
        <p:nvSpPr>
          <p:cNvPr id="183" name="Google Shape;183;p6"/>
          <p:cNvSpPr/>
          <p:nvPr/>
        </p:nvSpPr>
        <p:spPr>
          <a:xfrm>
            <a:off x="6784848" y="2843784"/>
            <a:ext cx="128016" cy="128016"/>
          </a:xfrm>
          <a:prstGeom prst="ellipse">
            <a:avLst/>
          </a:prstGeom>
          <a:solidFill>
            <a:srgbClr val="D8A1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7022592" y="2688336"/>
            <a:ext cx="4709160" cy="59436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Lås upp översta ~35 % </a:t>
            </a:r>
            <a:r>
              <a:rPr b="0" i="0" lang="en-US" sz="1250" u="none" cap="none" strike="noStrike">
                <a:solidFill>
                  <a:srgbClr val="C9D6C2"/>
                </a:solidFill>
                <a:latin typeface="Calibri"/>
                <a:ea typeface="Calibri"/>
                <a:cs typeface="Calibri"/>
                <a:sym typeface="Calibri"/>
              </a:rPr>
              <a:t>de sena lagren omspecialiseras på blommor</a:t>
            </a:r>
            <a:endParaRPr b="0" i="0" sz="1250" u="none" cap="none" strike="noStrike">
              <a:solidFill>
                <a:schemeClr val="dk1"/>
              </a:solidFill>
              <a:latin typeface="Calibri"/>
              <a:ea typeface="Calibri"/>
              <a:cs typeface="Calibri"/>
              <a:sym typeface="Calibri"/>
            </a:endParaRPr>
          </a:p>
        </p:txBody>
      </p:sp>
      <p:sp>
        <p:nvSpPr>
          <p:cNvPr id="185" name="Google Shape;185;p6"/>
          <p:cNvSpPr/>
          <p:nvPr/>
        </p:nvSpPr>
        <p:spPr>
          <a:xfrm>
            <a:off x="6784848" y="3438144"/>
            <a:ext cx="128016" cy="128016"/>
          </a:xfrm>
          <a:prstGeom prst="ellipse">
            <a:avLst/>
          </a:prstGeom>
          <a:solidFill>
            <a:srgbClr val="D8A1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7022592" y="3282696"/>
            <a:ext cx="4709160" cy="59436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Inlärningshastighet 1e-5 </a:t>
            </a:r>
            <a:r>
              <a:rPr b="0" i="0" lang="en-US" sz="1250" u="none" cap="none" strike="noStrike">
                <a:solidFill>
                  <a:srgbClr val="C9D6C2"/>
                </a:solidFill>
                <a:latin typeface="Calibri"/>
                <a:ea typeface="Calibri"/>
                <a:cs typeface="Calibri"/>
                <a:sym typeface="Calibri"/>
              </a:rPr>
              <a:t>100× mindre</a:t>
            </a:r>
            <a:r>
              <a:rPr lang="en-US" sz="1250">
                <a:solidFill>
                  <a:srgbClr val="C9D6C2"/>
                </a:solidFill>
                <a:latin typeface="Calibri"/>
                <a:ea typeface="Calibri"/>
                <a:cs typeface="Calibri"/>
                <a:sym typeface="Calibri"/>
              </a:rPr>
              <a:t> </a:t>
            </a:r>
            <a:r>
              <a:rPr b="0" i="0" lang="en-US" sz="1250" u="none" cap="none" strike="noStrike">
                <a:solidFill>
                  <a:srgbClr val="C9D6C2"/>
                </a:solidFill>
                <a:latin typeface="Calibri"/>
                <a:ea typeface="Calibri"/>
                <a:cs typeface="Calibri"/>
                <a:sym typeface="Calibri"/>
              </a:rPr>
              <a:t>nudga filtren, förstör dem inte</a:t>
            </a:r>
            <a:endParaRPr b="0" i="0" sz="1250" u="none" cap="none" strike="noStrike">
              <a:solidFill>
                <a:schemeClr val="dk1"/>
              </a:solidFill>
              <a:latin typeface="Calibri"/>
              <a:ea typeface="Calibri"/>
              <a:cs typeface="Calibri"/>
              <a:sym typeface="Calibri"/>
            </a:endParaRPr>
          </a:p>
        </p:txBody>
      </p:sp>
      <p:sp>
        <p:nvSpPr>
          <p:cNvPr id="187" name="Google Shape;187;p6"/>
          <p:cNvSpPr/>
          <p:nvPr/>
        </p:nvSpPr>
        <p:spPr>
          <a:xfrm>
            <a:off x="6784848" y="4032504"/>
            <a:ext cx="128016" cy="128016"/>
          </a:xfrm>
          <a:prstGeom prst="ellipse">
            <a:avLst/>
          </a:prstGeom>
          <a:solidFill>
            <a:srgbClr val="D8A1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a:off x="7022592" y="3877056"/>
            <a:ext cx="4709160" cy="594360"/>
          </a:xfrm>
          <a:prstGeom prst="rect">
            <a:avLst/>
          </a:prstGeom>
          <a:noFill/>
          <a:ln>
            <a:noFill/>
          </a:ln>
        </p:spPr>
        <p:txBody>
          <a:bodyPr anchorCtr="0" anchor="t" bIns="45700" lIns="91425" spcFirstLastPara="1" rIns="91425" wrap="square" tIns="45700">
            <a:noAutofit/>
          </a:bodyPr>
          <a:lstStyle/>
          <a:p>
            <a:pPr indent="0" lvl="0" marL="0" marR="0" rtl="0" algn="l">
              <a:lnSpc>
                <a:spcPct val="103000"/>
              </a:lnSpc>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upp till 28 epoker </a:t>
            </a:r>
            <a:r>
              <a:rPr b="0" i="0" lang="en-US" sz="1250" u="none" cap="none" strike="noStrike">
                <a:solidFill>
                  <a:srgbClr val="C9D6C2"/>
                </a:solidFill>
                <a:latin typeface="Calibri"/>
                <a:ea typeface="Calibri"/>
                <a:cs typeface="Calibri"/>
                <a:sym typeface="Calibri"/>
              </a:rPr>
              <a:t>early-stopped vid 22, bästa vikter behålls</a:t>
            </a:r>
            <a:endParaRPr b="0" i="0" sz="1250" u="none" cap="none" strike="noStrike">
              <a:solidFill>
                <a:schemeClr val="dk1"/>
              </a:solidFill>
              <a:latin typeface="Calibri"/>
              <a:ea typeface="Calibri"/>
              <a:cs typeface="Calibri"/>
              <a:sym typeface="Calibri"/>
            </a:endParaRPr>
          </a:p>
        </p:txBody>
      </p:sp>
      <p:sp>
        <p:nvSpPr>
          <p:cNvPr id="189" name="Google Shape;189;p6"/>
          <p:cNvSpPr/>
          <p:nvPr/>
        </p:nvSpPr>
        <p:spPr>
          <a:xfrm>
            <a:off x="5943600" y="2743200"/>
            <a:ext cx="54864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7BC62"/>
              </a:buClr>
              <a:buSzPts val="3000"/>
              <a:buFont typeface="Calibri"/>
              <a:buNone/>
            </a:pPr>
            <a:r>
              <a:rPr b="1" i="0" lang="en-US" sz="3000" u="none" cap="none" strike="noStrike">
                <a:solidFill>
                  <a:srgbClr val="97BC62"/>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190" name="Google Shape;190;p6"/>
          <p:cNvSpPr/>
          <p:nvPr/>
        </p:nvSpPr>
        <p:spPr>
          <a:xfrm>
            <a:off x="548640" y="4892040"/>
            <a:ext cx="11091672" cy="1371600"/>
          </a:xfrm>
          <a:prstGeom prst="roundRect">
            <a:avLst>
              <a:gd fmla="val 6667" name="adj"/>
            </a:avLst>
          </a:prstGeom>
          <a:solidFill>
            <a:srgbClr val="FBF1E6"/>
          </a:solidFill>
          <a:ln cap="flat" cmpd="sng" w="15875">
            <a:solidFill>
              <a:srgbClr val="D8A1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868680" y="5230368"/>
            <a:ext cx="603504" cy="603504"/>
          </a:xfrm>
          <a:prstGeom prst="ellipse">
            <a:avLst/>
          </a:prstGeom>
          <a:solidFill>
            <a:srgbClr val="D8A1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2" name="Google Shape;192;p6"/>
          <p:cNvPicPr preferRelativeResize="0"/>
          <p:nvPr/>
        </p:nvPicPr>
        <p:blipFill rotWithShape="1">
          <a:blip r:embed="rId6">
            <a:alphaModFix/>
          </a:blip>
          <a:srcRect b="0" l="0" r="0" t="0"/>
          <a:stretch/>
        </p:blipFill>
        <p:spPr>
          <a:xfrm>
            <a:off x="947136" y="5308824"/>
            <a:ext cx="446593" cy="446593"/>
          </a:xfrm>
          <a:prstGeom prst="rect">
            <a:avLst/>
          </a:prstGeom>
          <a:noFill/>
          <a:ln>
            <a:noFill/>
          </a:ln>
        </p:spPr>
      </p:pic>
      <p:sp>
        <p:nvSpPr>
          <p:cNvPr id="193" name="Google Shape;193;p6"/>
          <p:cNvSpPr/>
          <p:nvPr/>
        </p:nvSpPr>
        <p:spPr>
          <a:xfrm>
            <a:off x="1645920" y="5029200"/>
            <a:ext cx="9784080" cy="1097280"/>
          </a:xfrm>
          <a:prstGeom prst="rect">
            <a:avLst/>
          </a:prstGeom>
          <a:noFill/>
          <a:ln>
            <a:noFill/>
          </a:ln>
        </p:spPr>
        <p:txBody>
          <a:bodyPr anchorCtr="0" anchor="ctr" bIns="45700" lIns="91425" spcFirstLastPara="1" rIns="91425" wrap="square" tIns="45700">
            <a:noAutofit/>
          </a:bodyPr>
          <a:lstStyle/>
          <a:p>
            <a:pPr indent="0" lvl="0" marL="0" marR="0" rtl="0" algn="l">
              <a:lnSpc>
                <a:spcPct val="114000"/>
              </a:lnSpc>
              <a:spcBef>
                <a:spcPts val="0"/>
              </a:spcBef>
              <a:spcAft>
                <a:spcPts val="0"/>
              </a:spcAft>
              <a:buClr>
                <a:srgbClr val="8A5A0E"/>
              </a:buClr>
              <a:buSzPts val="1400"/>
              <a:buFont typeface="Calibri"/>
              <a:buNone/>
            </a:pPr>
            <a:r>
              <a:rPr b="1" i="0" lang="en-US" sz="1400" u="none" cap="none" strike="noStrike">
                <a:solidFill>
                  <a:srgbClr val="8A5A0E"/>
                </a:solidFill>
                <a:latin typeface="Calibri"/>
                <a:ea typeface="Calibri"/>
                <a:cs typeface="Calibri"/>
                <a:sym typeface="Calibri"/>
              </a:rPr>
              <a:t>Två detaljer avgör allt.  </a:t>
            </a:r>
            <a:r>
              <a:rPr b="0" i="0" lang="en-US" sz="1400" u="none" cap="none" strike="noStrike">
                <a:solidFill>
                  <a:srgbClr val="5A4A16"/>
                </a:solidFill>
                <a:latin typeface="Calibri"/>
                <a:ea typeface="Calibri"/>
                <a:cs typeface="Calibri"/>
                <a:sym typeface="Calibri"/>
              </a:rPr>
              <a:t>Liten inlärningshastighet skyddar de förtränade filtren och BatchNorm-lagren hålls frysta (de bär ImageNets statistik). Att räkna om dem på 2 500 bilder är den vanligaste transfer learning-buggen.</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7"/>
          <p:cNvSpPr/>
          <p:nvPr/>
        </p:nvSpPr>
        <p:spPr>
          <a:xfrm>
            <a:off x="548640" y="457200"/>
            <a:ext cx="566928" cy="566928"/>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0" name="Google Shape;200;p7"/>
          <p:cNvPicPr preferRelativeResize="0"/>
          <p:nvPr/>
        </p:nvPicPr>
        <p:blipFill rotWithShape="1">
          <a:blip r:embed="rId3">
            <a:alphaModFix/>
          </a:blip>
          <a:srcRect b="0" l="0" r="0" t="0"/>
          <a:stretch/>
        </p:blipFill>
        <p:spPr>
          <a:xfrm>
            <a:off x="622341" y="530901"/>
            <a:ext cx="419527" cy="419527"/>
          </a:xfrm>
          <a:prstGeom prst="rect">
            <a:avLst/>
          </a:prstGeom>
          <a:noFill/>
          <a:ln>
            <a:noFill/>
          </a:ln>
        </p:spPr>
      </p:pic>
      <p:sp>
        <p:nvSpPr>
          <p:cNvPr id="201" name="Google Shape;201;p7"/>
          <p:cNvSpPr/>
          <p:nvPr/>
        </p:nvSpPr>
        <p:spPr>
          <a:xfrm>
            <a:off x="1234440" y="402336"/>
            <a:ext cx="104241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A1C"/>
              </a:buClr>
              <a:buSzPts val="2700"/>
              <a:buFont typeface="Century Schoolbook"/>
              <a:buNone/>
            </a:pPr>
            <a:r>
              <a:rPr b="1" i="0" lang="en-US" sz="2700" u="none" cap="none" strike="noStrike">
                <a:solidFill>
                  <a:srgbClr val="1E2A1C"/>
                </a:solidFill>
                <a:latin typeface="Century Schoolbook"/>
                <a:ea typeface="Century Schoolbook"/>
                <a:cs typeface="Century Schoolbook"/>
                <a:sym typeface="Century Schoolbook"/>
              </a:rPr>
              <a:t>Resan: från 43 fel till 24</a:t>
            </a:r>
            <a:endParaRPr b="0" i="0" sz="2700" u="none" cap="none" strike="noStrike">
              <a:solidFill>
                <a:schemeClr val="dk1"/>
              </a:solidFill>
              <a:latin typeface="Calibri"/>
              <a:ea typeface="Calibri"/>
              <a:cs typeface="Calibri"/>
              <a:sym typeface="Calibri"/>
            </a:endParaRPr>
          </a:p>
        </p:txBody>
      </p:sp>
      <p:sp>
        <p:nvSpPr>
          <p:cNvPr id="202" name="Google Shape;202;p7"/>
          <p:cNvSpPr/>
          <p:nvPr/>
        </p:nvSpPr>
        <p:spPr>
          <a:xfrm>
            <a:off x="548640" y="1280160"/>
            <a:ext cx="10972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58"/>
              </a:buClr>
              <a:buSzPts val="1450"/>
              <a:buFont typeface="Calibri"/>
              <a:buNone/>
            </a:pPr>
            <a:r>
              <a:rPr b="0" i="0" lang="en-US" sz="1450" u="none" cap="none" strike="noStrike">
                <a:solidFill>
                  <a:srgbClr val="5B6B58"/>
                </a:solidFill>
                <a:latin typeface="Calibri"/>
                <a:ea typeface="Calibri"/>
                <a:cs typeface="Calibri"/>
                <a:sym typeface="Calibri"/>
              </a:rPr>
              <a:t>Samma testdel (544 bilder) genom tre konfigurationer. Färre staplar = bättre.</a:t>
            </a:r>
            <a:endParaRPr b="0" i="0" sz="1450" u="none" cap="none" strike="noStrike">
              <a:solidFill>
                <a:schemeClr val="dk1"/>
              </a:solidFill>
              <a:latin typeface="Calibri"/>
              <a:ea typeface="Calibri"/>
              <a:cs typeface="Calibri"/>
              <a:sym typeface="Calibri"/>
            </a:endParaRPr>
          </a:p>
        </p:txBody>
      </p:sp>
      <p:graphicFrame>
        <p:nvGraphicFramePr>
          <p:cNvPr id="203" name="Google Shape;203;p7"/>
          <p:cNvGraphicFramePr/>
          <p:nvPr/>
        </p:nvGraphicFramePr>
        <p:xfrm>
          <a:off x="502920" y="1783080"/>
          <a:ext cx="6766560" cy="4480560"/>
        </p:xfrm>
        <a:graphic>
          <a:graphicData uri="http://schemas.openxmlformats.org/drawingml/2006/chart">
            <c:chart r:id="rId4"/>
          </a:graphicData>
        </a:graphic>
      </p:graphicFrame>
      <p:sp>
        <p:nvSpPr>
          <p:cNvPr id="204" name="Google Shape;204;p7"/>
          <p:cNvSpPr/>
          <p:nvPr/>
        </p:nvSpPr>
        <p:spPr>
          <a:xfrm>
            <a:off x="7543800" y="1783080"/>
            <a:ext cx="4096512" cy="4480560"/>
          </a:xfrm>
          <a:prstGeom prst="roundRect">
            <a:avLst>
              <a:gd fmla="val 2232" name="adj"/>
            </a:avLst>
          </a:prstGeom>
          <a:solidFill>
            <a:srgbClr val="1733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a:off x="7818120" y="2011680"/>
            <a:ext cx="356616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7BC62"/>
              </a:buClr>
              <a:buSzPts val="1300"/>
              <a:buFont typeface="Calibri"/>
              <a:buNone/>
            </a:pPr>
            <a:r>
              <a:rPr b="1" i="0" lang="en-US" sz="1300" u="none" cap="none" strike="noStrike">
                <a:solidFill>
                  <a:srgbClr val="97BC62"/>
                </a:solidFill>
                <a:latin typeface="Calibri"/>
                <a:ea typeface="Calibri"/>
                <a:cs typeface="Calibri"/>
                <a:sym typeface="Calibri"/>
              </a:rPr>
              <a:t>Insikten</a:t>
            </a:r>
            <a:endParaRPr b="0" i="0" sz="1300" u="none" cap="none" strike="noStrike">
              <a:solidFill>
                <a:schemeClr val="dk1"/>
              </a:solidFill>
              <a:latin typeface="Calibri"/>
              <a:ea typeface="Calibri"/>
              <a:cs typeface="Calibri"/>
              <a:sym typeface="Calibri"/>
            </a:endParaRPr>
          </a:p>
        </p:txBody>
      </p:sp>
      <p:sp>
        <p:nvSpPr>
          <p:cNvPr id="206" name="Google Shape;206;p7"/>
          <p:cNvSpPr/>
          <p:nvPr/>
        </p:nvSpPr>
        <p:spPr>
          <a:xfrm>
            <a:off x="7818120" y="2377440"/>
            <a:ext cx="356616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200"/>
              <a:buFont typeface="Century Schoolbook"/>
              <a:buNone/>
            </a:pPr>
            <a:r>
              <a:rPr b="1" lang="en-US" sz="5200">
                <a:solidFill>
                  <a:srgbClr val="FFFFFF"/>
                </a:solidFill>
                <a:latin typeface="Century Schoolbook"/>
                <a:ea typeface="Century Schoolbook"/>
                <a:cs typeface="Century Schoolbook"/>
                <a:sym typeface="Century Schoolbook"/>
              </a:rPr>
              <a:t>-</a:t>
            </a:r>
            <a:r>
              <a:rPr b="1" i="0" lang="en-US" sz="5200" u="none" cap="none" strike="noStrike">
                <a:solidFill>
                  <a:srgbClr val="FFFFFF"/>
                </a:solidFill>
                <a:latin typeface="Century Schoolbook"/>
                <a:ea typeface="Century Schoolbook"/>
                <a:cs typeface="Century Schoolbook"/>
                <a:sym typeface="Century Schoolbook"/>
              </a:rPr>
              <a:t>40 %</a:t>
            </a:r>
            <a:endParaRPr b="0" i="0" sz="5200" u="none" cap="none" strike="noStrike">
              <a:solidFill>
                <a:schemeClr val="dk1"/>
              </a:solidFill>
              <a:latin typeface="Calibri"/>
              <a:ea typeface="Calibri"/>
              <a:cs typeface="Calibri"/>
              <a:sym typeface="Calibri"/>
            </a:endParaRPr>
          </a:p>
        </p:txBody>
      </p:sp>
      <p:sp>
        <p:nvSpPr>
          <p:cNvPr id="207" name="Google Shape;207;p7"/>
          <p:cNvSpPr/>
          <p:nvPr/>
        </p:nvSpPr>
        <p:spPr>
          <a:xfrm>
            <a:off x="7818120" y="3337560"/>
            <a:ext cx="35661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97BC62"/>
              </a:buClr>
              <a:buSzPts val="1500"/>
              <a:buFont typeface="Calibri"/>
              <a:buNone/>
            </a:pPr>
            <a:r>
              <a:rPr b="1" i="0" lang="en-US" sz="1500" u="none" cap="none" strike="noStrike">
                <a:solidFill>
                  <a:srgbClr val="97BC62"/>
                </a:solidFill>
                <a:latin typeface="Calibri"/>
                <a:ea typeface="Calibri"/>
                <a:cs typeface="Calibri"/>
                <a:sym typeface="Calibri"/>
              </a:rPr>
              <a:t>färre fel </a:t>
            </a:r>
            <a:r>
              <a:rPr b="1" lang="en-US" sz="1500">
                <a:solidFill>
                  <a:srgbClr val="97BC62"/>
                </a:solidFill>
                <a:latin typeface="Calibri"/>
                <a:ea typeface="Calibri"/>
                <a:cs typeface="Calibri"/>
                <a:sym typeface="Calibri"/>
              </a:rPr>
              <a:t>- </a:t>
            </a:r>
            <a:r>
              <a:rPr b="1" i="0" lang="en-US" sz="1500" u="none" cap="none" strike="noStrike">
                <a:solidFill>
                  <a:srgbClr val="97BC62"/>
                </a:solidFill>
                <a:latin typeface="Calibri"/>
                <a:ea typeface="Calibri"/>
                <a:cs typeface="Calibri"/>
                <a:sym typeface="Calibri"/>
              </a:rPr>
              <a:t>enbart av att byta basmodell.</a:t>
            </a:r>
            <a:endParaRPr b="0" i="0" sz="1500" u="none" cap="none" strike="noStrike">
              <a:solidFill>
                <a:schemeClr val="dk1"/>
              </a:solidFill>
              <a:latin typeface="Calibri"/>
              <a:ea typeface="Calibri"/>
              <a:cs typeface="Calibri"/>
              <a:sym typeface="Calibri"/>
            </a:endParaRPr>
          </a:p>
        </p:txBody>
      </p:sp>
      <p:sp>
        <p:nvSpPr>
          <p:cNvPr id="208" name="Google Shape;208;p7"/>
          <p:cNvSpPr/>
          <p:nvPr/>
        </p:nvSpPr>
        <p:spPr>
          <a:xfrm>
            <a:off x="7818120" y="4069080"/>
            <a:ext cx="3611880" cy="2011680"/>
          </a:xfrm>
          <a:prstGeom prst="rect">
            <a:avLst/>
          </a:prstGeom>
          <a:noFill/>
          <a:ln>
            <a:noFill/>
          </a:ln>
        </p:spPr>
        <p:txBody>
          <a:bodyPr anchorCtr="0" anchor="t" bIns="45700" lIns="91425" spcFirstLastPara="1" rIns="91425" wrap="square" tIns="45700">
            <a:noAutofit/>
          </a:bodyPr>
          <a:lstStyle/>
          <a:p>
            <a:pPr indent="0" lvl="0" marL="0" marR="0" rtl="0" algn="l">
              <a:lnSpc>
                <a:spcPct val="116000"/>
              </a:lnSpc>
              <a:spcBef>
                <a:spcPts val="0"/>
              </a:spcBef>
              <a:spcAft>
                <a:spcPts val="0"/>
              </a:spcAft>
              <a:buClr>
                <a:srgbClr val="D8E3D2"/>
              </a:buClr>
              <a:buSzPts val="1350"/>
              <a:buFont typeface="Calibri"/>
              <a:buNone/>
            </a:pPr>
            <a:r>
              <a:rPr b="0" i="0" lang="en-US" sz="1350" u="none" cap="none" strike="noStrike">
                <a:solidFill>
                  <a:srgbClr val="D8E3D2"/>
                </a:solidFill>
                <a:latin typeface="Calibri"/>
                <a:ea typeface="Calibri"/>
                <a:cs typeface="Calibri"/>
                <a:sym typeface="Calibri"/>
              </a:rPr>
              <a:t>Den stora vinsten satt inte i toppen, utan i ryggraden. I transfer learning betyder kvaliteten på de förtränade features oftast mer än allt man gör med sitt eget klassificeringslager.</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8"/>
          <p:cNvSpPr/>
          <p:nvPr/>
        </p:nvSpPr>
        <p:spPr>
          <a:xfrm>
            <a:off x="548640" y="457200"/>
            <a:ext cx="566928" cy="566928"/>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5" name="Google Shape;215;p8"/>
          <p:cNvPicPr preferRelativeResize="0"/>
          <p:nvPr/>
        </p:nvPicPr>
        <p:blipFill rotWithShape="1">
          <a:blip r:embed="rId3">
            <a:alphaModFix/>
          </a:blip>
          <a:srcRect b="0" l="0" r="0" t="0"/>
          <a:stretch/>
        </p:blipFill>
        <p:spPr>
          <a:xfrm>
            <a:off x="622341" y="530901"/>
            <a:ext cx="419527" cy="419527"/>
          </a:xfrm>
          <a:prstGeom prst="rect">
            <a:avLst/>
          </a:prstGeom>
          <a:noFill/>
          <a:ln>
            <a:noFill/>
          </a:ln>
        </p:spPr>
      </p:pic>
      <p:sp>
        <p:nvSpPr>
          <p:cNvPr id="216" name="Google Shape;216;p8"/>
          <p:cNvSpPr/>
          <p:nvPr/>
        </p:nvSpPr>
        <p:spPr>
          <a:xfrm>
            <a:off x="1234440" y="402336"/>
            <a:ext cx="104241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A1C"/>
              </a:buClr>
              <a:buSzPts val="2700"/>
              <a:buFont typeface="Century Schoolbook"/>
              <a:buNone/>
            </a:pPr>
            <a:r>
              <a:rPr b="1" i="0" lang="en-US" sz="2700" u="none" cap="none" strike="noStrike">
                <a:solidFill>
                  <a:srgbClr val="1E2A1C"/>
                </a:solidFill>
                <a:latin typeface="Century Schoolbook"/>
                <a:ea typeface="Century Schoolbook"/>
                <a:cs typeface="Century Schoolbook"/>
                <a:sym typeface="Century Schoolbook"/>
              </a:rPr>
              <a:t>Resultat: 95,59 % på osedd testdata</a:t>
            </a:r>
            <a:endParaRPr b="0" i="0" sz="2700" u="none" cap="none" strike="noStrike">
              <a:solidFill>
                <a:schemeClr val="dk1"/>
              </a:solidFill>
              <a:latin typeface="Calibri"/>
              <a:ea typeface="Calibri"/>
              <a:cs typeface="Calibri"/>
              <a:sym typeface="Calibri"/>
            </a:endParaRPr>
          </a:p>
        </p:txBody>
      </p:sp>
      <p:sp>
        <p:nvSpPr>
          <p:cNvPr id="217" name="Google Shape;217;p8"/>
          <p:cNvSpPr/>
          <p:nvPr/>
        </p:nvSpPr>
        <p:spPr>
          <a:xfrm>
            <a:off x="548640" y="1463040"/>
            <a:ext cx="3246120" cy="4800600"/>
          </a:xfrm>
          <a:prstGeom prst="roundRect">
            <a:avLst>
              <a:gd fmla="val 3380" name="adj"/>
            </a:avLst>
          </a:prstGeom>
          <a:solidFill>
            <a:srgbClr val="2C5F2D"/>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548640" y="2011680"/>
            <a:ext cx="324612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000"/>
              <a:buFont typeface="Century Schoolbook"/>
              <a:buNone/>
            </a:pPr>
            <a:r>
              <a:rPr b="1" i="0" lang="en-US" sz="4000" u="none" cap="none" strike="noStrike">
                <a:solidFill>
                  <a:srgbClr val="FFFFFF"/>
                </a:solidFill>
                <a:latin typeface="Century Schoolbook"/>
                <a:ea typeface="Century Schoolbook"/>
                <a:cs typeface="Century Schoolbook"/>
                <a:sym typeface="Century Schoolbook"/>
              </a:rPr>
              <a:t>95,59 %</a:t>
            </a:r>
            <a:endParaRPr b="0" i="0" sz="4000" u="none" cap="none" strike="noStrike">
              <a:solidFill>
                <a:schemeClr val="dk1"/>
              </a:solidFill>
              <a:latin typeface="Calibri"/>
              <a:ea typeface="Calibri"/>
              <a:cs typeface="Calibri"/>
              <a:sym typeface="Calibri"/>
            </a:endParaRPr>
          </a:p>
        </p:txBody>
      </p:sp>
      <p:sp>
        <p:nvSpPr>
          <p:cNvPr id="219" name="Google Shape;219;p8"/>
          <p:cNvSpPr/>
          <p:nvPr/>
        </p:nvSpPr>
        <p:spPr>
          <a:xfrm>
            <a:off x="548640" y="2880360"/>
            <a:ext cx="3246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7BC62"/>
              </a:buClr>
              <a:buSzPts val="1400"/>
              <a:buFont typeface="Calibri"/>
              <a:buNone/>
            </a:pPr>
            <a:r>
              <a:rPr b="1" i="0" lang="en-US" sz="1400" u="none" cap="none" strike="noStrike">
                <a:solidFill>
                  <a:srgbClr val="97BC62"/>
                </a:solidFill>
                <a:latin typeface="Calibri"/>
                <a:ea typeface="Calibri"/>
                <a:cs typeface="Calibri"/>
                <a:sym typeface="Calibri"/>
              </a:rPr>
              <a:t>test-träffsäkerhet</a:t>
            </a:r>
            <a:endParaRPr b="0" i="0" sz="1400" u="none" cap="none" strike="noStrike">
              <a:solidFill>
                <a:schemeClr val="dk1"/>
              </a:solidFill>
              <a:latin typeface="Calibri"/>
              <a:ea typeface="Calibri"/>
              <a:cs typeface="Calibri"/>
              <a:sym typeface="Calibri"/>
            </a:endParaRPr>
          </a:p>
        </p:txBody>
      </p:sp>
      <p:cxnSp>
        <p:nvCxnSpPr>
          <p:cNvPr id="220" name="Google Shape;220;p8"/>
          <p:cNvCxnSpPr/>
          <p:nvPr/>
        </p:nvCxnSpPr>
        <p:spPr>
          <a:xfrm>
            <a:off x="1051560" y="3429000"/>
            <a:ext cx="2240280" cy="0"/>
          </a:xfrm>
          <a:prstGeom prst="straightConnector1">
            <a:avLst/>
          </a:prstGeom>
          <a:noFill/>
          <a:ln cap="flat" cmpd="sng" w="12700">
            <a:solidFill>
              <a:srgbClr val="3E6E3F"/>
            </a:solidFill>
            <a:prstDash val="solid"/>
            <a:round/>
            <a:headEnd len="sm" w="sm" type="none"/>
            <a:tailEnd len="sm" w="sm" type="none"/>
          </a:ln>
        </p:spPr>
      </p:cxnSp>
      <p:sp>
        <p:nvSpPr>
          <p:cNvPr id="221" name="Google Shape;221;p8"/>
          <p:cNvSpPr/>
          <p:nvPr/>
        </p:nvSpPr>
        <p:spPr>
          <a:xfrm>
            <a:off x="548640" y="3611880"/>
            <a:ext cx="32461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2700"/>
              <a:buFont typeface="Century Schoolbook"/>
              <a:buNone/>
            </a:pPr>
            <a:r>
              <a:rPr b="1" i="0" lang="en-US" sz="2700" u="none" cap="none" strike="noStrike">
                <a:solidFill>
                  <a:srgbClr val="FFFFFF"/>
                </a:solidFill>
                <a:latin typeface="Century Schoolbook"/>
                <a:ea typeface="Century Schoolbook"/>
                <a:cs typeface="Century Schoolbook"/>
                <a:sym typeface="Century Schoolbook"/>
              </a:rPr>
              <a:t>520 / 544</a:t>
            </a:r>
            <a:endParaRPr b="0" i="0" sz="2700" u="none" cap="none" strike="noStrike">
              <a:solidFill>
                <a:schemeClr val="dk1"/>
              </a:solidFill>
              <a:latin typeface="Calibri"/>
              <a:ea typeface="Calibri"/>
              <a:cs typeface="Calibri"/>
              <a:sym typeface="Calibri"/>
            </a:endParaRPr>
          </a:p>
        </p:txBody>
      </p:sp>
      <p:sp>
        <p:nvSpPr>
          <p:cNvPr id="222" name="Google Shape;222;p8"/>
          <p:cNvSpPr/>
          <p:nvPr/>
        </p:nvSpPr>
        <p:spPr>
          <a:xfrm>
            <a:off x="548640" y="4114800"/>
            <a:ext cx="32461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D6C2"/>
              </a:buClr>
              <a:buSzPts val="1300"/>
              <a:buFont typeface="Calibri"/>
              <a:buNone/>
            </a:pPr>
            <a:r>
              <a:rPr b="0" i="0" lang="en-US" sz="1300" u="none" cap="none" strike="noStrike">
                <a:solidFill>
                  <a:srgbClr val="C9D6C2"/>
                </a:solidFill>
                <a:latin typeface="Calibri"/>
                <a:ea typeface="Calibri"/>
                <a:cs typeface="Calibri"/>
                <a:sym typeface="Calibri"/>
              </a:rPr>
              <a:t>rätt klassade bilder</a:t>
            </a:r>
            <a:endParaRPr b="0" i="0" sz="1300" u="none" cap="none" strike="noStrike">
              <a:solidFill>
                <a:schemeClr val="dk1"/>
              </a:solidFill>
              <a:latin typeface="Calibri"/>
              <a:ea typeface="Calibri"/>
              <a:cs typeface="Calibri"/>
              <a:sym typeface="Calibri"/>
            </a:endParaRPr>
          </a:p>
        </p:txBody>
      </p:sp>
      <p:sp>
        <p:nvSpPr>
          <p:cNvPr id="223" name="Google Shape;223;p8"/>
          <p:cNvSpPr/>
          <p:nvPr/>
        </p:nvSpPr>
        <p:spPr>
          <a:xfrm>
            <a:off x="777240" y="4846320"/>
            <a:ext cx="278892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12000"/>
              </a:lnSpc>
              <a:spcBef>
                <a:spcPts val="0"/>
              </a:spcBef>
              <a:spcAft>
                <a:spcPts val="0"/>
              </a:spcAft>
              <a:buClr>
                <a:srgbClr val="C9D6C2"/>
              </a:buClr>
              <a:buSzPts val="1250"/>
              <a:buFont typeface="Calibri"/>
              <a:buNone/>
            </a:pPr>
            <a:r>
              <a:rPr b="0" i="1" lang="en-US" sz="1250" u="none" cap="none" strike="noStrike">
                <a:solidFill>
                  <a:srgbClr val="C9D6C2"/>
                </a:solidFill>
                <a:latin typeface="Calibri"/>
                <a:ea typeface="Calibri"/>
                <a:cs typeface="Calibri"/>
                <a:sym typeface="Calibri"/>
              </a:rPr>
              <a:t>Testdelen rördes exakt en gång, allra sist</a:t>
            </a:r>
            <a:r>
              <a:rPr i="1" lang="en-US" sz="1250">
                <a:solidFill>
                  <a:srgbClr val="C9D6C2"/>
                </a:solidFill>
                <a:latin typeface="Calibri"/>
                <a:ea typeface="Calibri"/>
                <a:cs typeface="Calibri"/>
                <a:sym typeface="Calibri"/>
              </a:rPr>
              <a:t> </a:t>
            </a:r>
            <a:r>
              <a:rPr b="0" i="1" lang="en-US" sz="1250" u="none" cap="none" strike="noStrike">
                <a:solidFill>
                  <a:srgbClr val="C9D6C2"/>
                </a:solidFill>
                <a:latin typeface="Calibri"/>
                <a:ea typeface="Calibri"/>
                <a:cs typeface="Calibri"/>
                <a:sym typeface="Calibri"/>
              </a:rPr>
              <a:t>ingen finjustering mot den.</a:t>
            </a:r>
            <a:endParaRPr b="0" i="0" sz="1250" u="none" cap="none" strike="noStrike">
              <a:solidFill>
                <a:schemeClr val="dk1"/>
              </a:solidFill>
              <a:latin typeface="Calibri"/>
              <a:ea typeface="Calibri"/>
              <a:cs typeface="Calibri"/>
              <a:sym typeface="Calibri"/>
            </a:endParaRPr>
          </a:p>
        </p:txBody>
      </p:sp>
      <p:sp>
        <p:nvSpPr>
          <p:cNvPr id="224" name="Google Shape;224;p8"/>
          <p:cNvSpPr/>
          <p:nvPr/>
        </p:nvSpPr>
        <p:spPr>
          <a:xfrm>
            <a:off x="4114800" y="1417320"/>
            <a:ext cx="7315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B6B58"/>
              </a:buClr>
              <a:buSzPts val="1300"/>
              <a:buFont typeface="Calibri"/>
              <a:buNone/>
            </a:pPr>
            <a:r>
              <a:rPr b="1" i="0" lang="en-US" sz="1300" u="none" cap="none" strike="noStrike">
                <a:solidFill>
                  <a:srgbClr val="5B6B58"/>
                </a:solidFill>
                <a:latin typeface="Calibri"/>
                <a:ea typeface="Calibri"/>
                <a:cs typeface="Calibri"/>
                <a:sym typeface="Calibri"/>
              </a:rPr>
              <a:t>Precision och recall per klass</a:t>
            </a:r>
            <a:endParaRPr b="0" i="0" sz="1300" u="none" cap="none" strike="noStrike">
              <a:solidFill>
                <a:schemeClr val="dk1"/>
              </a:solidFill>
              <a:latin typeface="Calibri"/>
              <a:ea typeface="Calibri"/>
              <a:cs typeface="Calibri"/>
              <a:sym typeface="Calibri"/>
            </a:endParaRPr>
          </a:p>
        </p:txBody>
      </p:sp>
      <p:graphicFrame>
        <p:nvGraphicFramePr>
          <p:cNvPr id="225" name="Google Shape;225;p8"/>
          <p:cNvGraphicFramePr/>
          <p:nvPr/>
        </p:nvGraphicFramePr>
        <p:xfrm>
          <a:off x="3977640" y="1737360"/>
          <a:ext cx="7680960" cy="4526280"/>
        </p:xfrm>
        <a:graphic>
          <a:graphicData uri="http://schemas.openxmlformats.org/drawingml/2006/chart">
            <c:chart r:id="rId4"/>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sp>
        <p:nvSpPr>
          <p:cNvPr id="231" name="Google Shape;231;p9"/>
          <p:cNvSpPr/>
          <p:nvPr/>
        </p:nvSpPr>
        <p:spPr>
          <a:xfrm>
            <a:off x="548640" y="457200"/>
            <a:ext cx="566928" cy="566928"/>
          </a:xfrm>
          <a:prstGeom prst="ellipse">
            <a:avLst/>
          </a:prstGeom>
          <a:solidFill>
            <a:srgbClr val="C25B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2" name="Google Shape;232;p9"/>
          <p:cNvPicPr preferRelativeResize="0"/>
          <p:nvPr/>
        </p:nvPicPr>
        <p:blipFill rotWithShape="1">
          <a:blip r:embed="rId3">
            <a:alphaModFix/>
          </a:blip>
          <a:srcRect b="0" l="0" r="0" t="0"/>
          <a:stretch/>
        </p:blipFill>
        <p:spPr>
          <a:xfrm>
            <a:off x="622341" y="530901"/>
            <a:ext cx="419527" cy="419527"/>
          </a:xfrm>
          <a:prstGeom prst="rect">
            <a:avLst/>
          </a:prstGeom>
          <a:noFill/>
          <a:ln>
            <a:noFill/>
          </a:ln>
        </p:spPr>
      </p:pic>
      <p:sp>
        <p:nvSpPr>
          <p:cNvPr id="233" name="Google Shape;233;p9"/>
          <p:cNvSpPr/>
          <p:nvPr/>
        </p:nvSpPr>
        <p:spPr>
          <a:xfrm>
            <a:off x="1234440" y="402336"/>
            <a:ext cx="104241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A1C"/>
              </a:buClr>
              <a:buSzPts val="2700"/>
              <a:buFont typeface="Century Schoolbook"/>
              <a:buNone/>
            </a:pPr>
            <a:r>
              <a:rPr b="1" i="0" lang="en-US" sz="2700" u="none" cap="none" strike="noStrike">
                <a:solidFill>
                  <a:srgbClr val="1E2A1C"/>
                </a:solidFill>
                <a:latin typeface="Century Schoolbook"/>
                <a:ea typeface="Century Schoolbook"/>
                <a:cs typeface="Century Schoolbook"/>
                <a:sym typeface="Century Schoolbook"/>
              </a:rPr>
              <a:t>Var felen sitter: rosor och tulpaner</a:t>
            </a:r>
            <a:endParaRPr b="0" i="0" sz="2700" u="none" cap="none" strike="noStrike">
              <a:solidFill>
                <a:schemeClr val="dk1"/>
              </a:solidFill>
              <a:latin typeface="Calibri"/>
              <a:ea typeface="Calibri"/>
              <a:cs typeface="Calibri"/>
              <a:sym typeface="Calibri"/>
            </a:endParaRPr>
          </a:p>
        </p:txBody>
      </p:sp>
      <p:sp>
        <p:nvSpPr>
          <p:cNvPr id="234" name="Google Shape;234;p9"/>
          <p:cNvSpPr/>
          <p:nvPr/>
        </p:nvSpPr>
        <p:spPr>
          <a:xfrm>
            <a:off x="548640" y="1463040"/>
            <a:ext cx="5212080" cy="2148840"/>
          </a:xfrm>
          <a:prstGeom prst="roundRect">
            <a:avLst>
              <a:gd fmla="val 5106" name="adj"/>
            </a:avLst>
          </a:prstGeom>
          <a:solidFill>
            <a:srgbClr val="F7EAEA"/>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
          <p:cNvSpPr/>
          <p:nvPr/>
        </p:nvSpPr>
        <p:spPr>
          <a:xfrm>
            <a:off x="822960" y="1691640"/>
            <a:ext cx="466344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25B5B"/>
              </a:buClr>
              <a:buSzPts val="4600"/>
              <a:buFont typeface="Century Schoolbook"/>
              <a:buNone/>
            </a:pPr>
            <a:r>
              <a:rPr b="1" i="0" lang="en-US" sz="4600" u="none" cap="none" strike="noStrike">
                <a:solidFill>
                  <a:srgbClr val="C25B5B"/>
                </a:solidFill>
                <a:latin typeface="Century Schoolbook"/>
                <a:ea typeface="Century Schoolbook"/>
                <a:cs typeface="Century Schoolbook"/>
                <a:sym typeface="Century Schoolbook"/>
              </a:rPr>
              <a:t>~40 %</a:t>
            </a:r>
            <a:endParaRPr b="0" i="0" sz="4600" u="none" cap="none" strike="noStrike">
              <a:solidFill>
                <a:schemeClr val="dk1"/>
              </a:solidFill>
              <a:latin typeface="Calibri"/>
              <a:ea typeface="Calibri"/>
              <a:cs typeface="Calibri"/>
              <a:sym typeface="Calibri"/>
            </a:endParaRPr>
          </a:p>
        </p:txBody>
      </p:sp>
      <p:sp>
        <p:nvSpPr>
          <p:cNvPr id="236" name="Google Shape;236;p9"/>
          <p:cNvSpPr/>
          <p:nvPr/>
        </p:nvSpPr>
        <p:spPr>
          <a:xfrm>
            <a:off x="822960" y="2606040"/>
            <a:ext cx="4663440" cy="86868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7A3A3A"/>
              </a:buClr>
              <a:buSzPts val="1500"/>
              <a:buFont typeface="Calibri"/>
              <a:buNone/>
            </a:pPr>
            <a:r>
              <a:rPr b="1" i="0" lang="en-US" sz="1500" u="none" cap="none" strike="noStrike">
                <a:solidFill>
                  <a:srgbClr val="7A3A3A"/>
                </a:solidFill>
                <a:latin typeface="Calibri"/>
                <a:ea typeface="Calibri"/>
                <a:cs typeface="Calibri"/>
                <a:sym typeface="Calibri"/>
              </a:rPr>
              <a:t>av alla misstag är rosor förväxlade med tulpaner och tvärtom.</a:t>
            </a:r>
            <a:endParaRPr b="0" i="0" sz="1500" u="none" cap="none" strike="noStrike">
              <a:solidFill>
                <a:schemeClr val="dk1"/>
              </a:solidFill>
              <a:latin typeface="Calibri"/>
              <a:ea typeface="Calibri"/>
              <a:cs typeface="Calibri"/>
              <a:sym typeface="Calibri"/>
            </a:endParaRPr>
          </a:p>
        </p:txBody>
      </p:sp>
      <p:sp>
        <p:nvSpPr>
          <p:cNvPr id="237" name="Google Shape;237;p9"/>
          <p:cNvSpPr/>
          <p:nvPr/>
        </p:nvSpPr>
        <p:spPr>
          <a:xfrm>
            <a:off x="603504" y="3931920"/>
            <a:ext cx="146304" cy="146304"/>
          </a:xfrm>
          <a:prstGeom prst="ellipse">
            <a:avLst/>
          </a:prstGeom>
          <a:solidFill>
            <a:srgbClr val="C25B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877824" y="3767328"/>
            <a:ext cx="4846320" cy="713232"/>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1E2A1C"/>
              </a:buClr>
              <a:buSzPts val="1300"/>
              <a:buFont typeface="Calibri"/>
              <a:buNone/>
            </a:pPr>
            <a:r>
              <a:rPr b="1" i="0" lang="en-US" sz="1300" u="none" cap="none" strike="noStrike">
                <a:solidFill>
                  <a:srgbClr val="1E2A1C"/>
                </a:solidFill>
                <a:latin typeface="Calibri"/>
                <a:ea typeface="Calibri"/>
                <a:cs typeface="Calibri"/>
                <a:sym typeface="Calibri"/>
              </a:rPr>
              <a:t>Lika till formen </a:t>
            </a:r>
            <a:r>
              <a:rPr b="0" i="0" lang="en-US" sz="1300" u="none" cap="none" strike="noStrike">
                <a:solidFill>
                  <a:srgbClr val="5B6B58"/>
                </a:solidFill>
                <a:latin typeface="Calibri"/>
                <a:ea typeface="Calibri"/>
                <a:cs typeface="Calibri"/>
                <a:sym typeface="Calibri"/>
              </a:rPr>
              <a:t>båda är täta, mättade, mångbladiga blommor ofta i blandade rabatter</a:t>
            </a:r>
            <a:endParaRPr b="0" i="0" sz="1300" u="none" cap="none" strike="noStrike">
              <a:solidFill>
                <a:schemeClr val="dk1"/>
              </a:solidFill>
              <a:latin typeface="Calibri"/>
              <a:ea typeface="Calibri"/>
              <a:cs typeface="Calibri"/>
              <a:sym typeface="Calibri"/>
            </a:endParaRPr>
          </a:p>
        </p:txBody>
      </p:sp>
      <p:sp>
        <p:nvSpPr>
          <p:cNvPr id="239" name="Google Shape;239;p9"/>
          <p:cNvSpPr/>
          <p:nvPr/>
        </p:nvSpPr>
        <p:spPr>
          <a:xfrm>
            <a:off x="603504" y="4709160"/>
            <a:ext cx="146304" cy="146304"/>
          </a:xfrm>
          <a:prstGeom prst="ellipse">
            <a:avLst/>
          </a:prstGeom>
          <a:solidFill>
            <a:srgbClr val="C25B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877824" y="4544568"/>
            <a:ext cx="4846320" cy="713232"/>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1E2A1C"/>
              </a:buClr>
              <a:buSzPts val="1300"/>
              <a:buFont typeface="Calibri"/>
              <a:buNone/>
            </a:pPr>
            <a:r>
              <a:rPr b="1" i="0" lang="en-US" sz="1300" u="none" cap="none" strike="noStrike">
                <a:solidFill>
                  <a:srgbClr val="1E2A1C"/>
                </a:solidFill>
                <a:latin typeface="Calibri"/>
                <a:ea typeface="Calibri"/>
                <a:cs typeface="Calibri"/>
                <a:sym typeface="Calibri"/>
              </a:rPr>
              <a:t>Modellen missar tulpaner </a:t>
            </a:r>
            <a:r>
              <a:rPr b="0" i="0" lang="en-US" sz="1300" u="none" cap="none" strike="noStrike">
                <a:solidFill>
                  <a:srgbClr val="5B6B58"/>
                </a:solidFill>
                <a:latin typeface="Calibri"/>
                <a:ea typeface="Calibri"/>
                <a:cs typeface="Calibri"/>
                <a:sym typeface="Calibri"/>
              </a:rPr>
              <a:t>precision 0,954 men recall 0,920 säger sällan ”tulpan” fel, den missar dem</a:t>
            </a:r>
            <a:endParaRPr b="0" i="0" sz="1300" u="none" cap="none" strike="noStrike">
              <a:solidFill>
                <a:schemeClr val="dk1"/>
              </a:solidFill>
              <a:latin typeface="Calibri"/>
              <a:ea typeface="Calibri"/>
              <a:cs typeface="Calibri"/>
              <a:sym typeface="Calibri"/>
            </a:endParaRPr>
          </a:p>
        </p:txBody>
      </p:sp>
      <p:sp>
        <p:nvSpPr>
          <p:cNvPr id="241" name="Google Shape;241;p9"/>
          <p:cNvSpPr/>
          <p:nvPr/>
        </p:nvSpPr>
        <p:spPr>
          <a:xfrm>
            <a:off x="603504" y="5486400"/>
            <a:ext cx="146304" cy="146304"/>
          </a:xfrm>
          <a:prstGeom prst="ellipse">
            <a:avLst/>
          </a:prstGeom>
          <a:solidFill>
            <a:srgbClr val="C25B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9"/>
          <p:cNvSpPr/>
          <p:nvPr/>
        </p:nvSpPr>
        <p:spPr>
          <a:xfrm>
            <a:off x="877824" y="5321808"/>
            <a:ext cx="4846320" cy="713232"/>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1E2A1C"/>
              </a:buClr>
              <a:buSzPts val="1300"/>
              <a:buFont typeface="Calibri"/>
              <a:buNone/>
            </a:pPr>
            <a:r>
              <a:rPr b="1" i="0" lang="en-US" sz="1300" u="none" cap="none" strike="noStrike">
                <a:solidFill>
                  <a:srgbClr val="1E2A1C"/>
                </a:solidFill>
                <a:latin typeface="Calibri"/>
                <a:ea typeface="Calibri"/>
                <a:cs typeface="Calibri"/>
                <a:sym typeface="Calibri"/>
              </a:rPr>
              <a:t>Delvis olösligt </a:t>
            </a:r>
            <a:r>
              <a:rPr b="0" i="0" lang="en-US" sz="1300" u="none" cap="none" strike="noStrike">
                <a:solidFill>
                  <a:srgbClr val="5B6B58"/>
                </a:solidFill>
                <a:latin typeface="Calibri"/>
                <a:ea typeface="Calibri"/>
                <a:cs typeface="Calibri"/>
                <a:sym typeface="Calibri"/>
              </a:rPr>
              <a:t>datasetet har lösa etiketter (trädgårdsscener taggade ”tulpaner”)</a:t>
            </a:r>
            <a:endParaRPr b="0" i="0" sz="1300" u="none" cap="none" strike="noStrike">
              <a:solidFill>
                <a:schemeClr val="dk1"/>
              </a:solidFill>
              <a:latin typeface="Calibri"/>
              <a:ea typeface="Calibri"/>
              <a:cs typeface="Calibri"/>
              <a:sym typeface="Calibri"/>
            </a:endParaRPr>
          </a:p>
        </p:txBody>
      </p:sp>
      <p:sp>
        <p:nvSpPr>
          <p:cNvPr id="243" name="Google Shape;243;p9"/>
          <p:cNvSpPr/>
          <p:nvPr/>
        </p:nvSpPr>
        <p:spPr>
          <a:xfrm>
            <a:off x="5989320" y="1463040"/>
            <a:ext cx="5650992" cy="4800600"/>
          </a:xfrm>
          <a:prstGeom prst="roundRect">
            <a:avLst>
              <a:gd fmla="val 2286" name="adj"/>
            </a:avLst>
          </a:prstGeom>
          <a:solidFill>
            <a:srgbClr val="1733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6355080" y="1828800"/>
            <a:ext cx="566928" cy="566928"/>
          </a:xfrm>
          <a:prstGeom prst="ellipse">
            <a:avLst/>
          </a:prstGeom>
          <a:solidFill>
            <a:srgbClr val="97BC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5" name="Google Shape;245;p9"/>
          <p:cNvPicPr preferRelativeResize="0"/>
          <p:nvPr/>
        </p:nvPicPr>
        <p:blipFill rotWithShape="1">
          <a:blip r:embed="rId4">
            <a:alphaModFix/>
          </a:blip>
          <a:srcRect b="0" l="0" r="0" t="0"/>
          <a:stretch/>
        </p:blipFill>
        <p:spPr>
          <a:xfrm>
            <a:off x="6428781" y="1902501"/>
            <a:ext cx="419527" cy="419527"/>
          </a:xfrm>
          <a:prstGeom prst="rect">
            <a:avLst/>
          </a:prstGeom>
          <a:noFill/>
          <a:ln>
            <a:noFill/>
          </a:ln>
        </p:spPr>
      </p:pic>
      <p:sp>
        <p:nvSpPr>
          <p:cNvPr id="246" name="Google Shape;246;p9"/>
          <p:cNvSpPr/>
          <p:nvPr/>
        </p:nvSpPr>
        <p:spPr>
          <a:xfrm>
            <a:off x="7086600" y="1847088"/>
            <a:ext cx="4297680"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7BC62"/>
              </a:buClr>
              <a:buSzPts val="2200"/>
              <a:buFont typeface="Century Schoolbook"/>
              <a:buNone/>
            </a:pPr>
            <a:r>
              <a:rPr b="1" i="0" lang="en-US" sz="2200" u="none" cap="none" strike="noStrike">
                <a:solidFill>
                  <a:srgbClr val="97BC62"/>
                </a:solidFill>
                <a:latin typeface="Century Schoolbook"/>
                <a:ea typeface="Century Schoolbook"/>
                <a:cs typeface="Century Schoolbook"/>
                <a:sym typeface="Century Schoolbook"/>
              </a:rPr>
              <a:t>~96 % är taket</a:t>
            </a:r>
            <a:endParaRPr b="0" i="0" sz="2200" u="none" cap="none" strike="noStrike">
              <a:solidFill>
                <a:schemeClr val="dk1"/>
              </a:solidFill>
              <a:latin typeface="Calibri"/>
              <a:ea typeface="Calibri"/>
              <a:cs typeface="Calibri"/>
              <a:sym typeface="Calibri"/>
            </a:endParaRPr>
          </a:p>
        </p:txBody>
      </p:sp>
      <p:sp>
        <p:nvSpPr>
          <p:cNvPr id="247" name="Google Shape;247;p9"/>
          <p:cNvSpPr/>
          <p:nvPr/>
        </p:nvSpPr>
        <p:spPr>
          <a:xfrm>
            <a:off x="6355080" y="2514600"/>
            <a:ext cx="50292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16000"/>
              </a:lnSpc>
              <a:spcBef>
                <a:spcPts val="0"/>
              </a:spcBef>
              <a:spcAft>
                <a:spcPts val="0"/>
              </a:spcAft>
              <a:buClr>
                <a:srgbClr val="FFFFFF"/>
              </a:buClr>
              <a:buSzPts val="1400"/>
              <a:buFont typeface="Calibri"/>
              <a:buNone/>
            </a:pPr>
            <a:r>
              <a:rPr b="0" i="0" lang="en-US" sz="1400" u="none" cap="none" strike="noStrike">
                <a:solidFill>
                  <a:srgbClr val="FFFFFF"/>
                </a:solidFill>
                <a:latin typeface="Calibri"/>
                <a:ea typeface="Calibri"/>
                <a:cs typeface="Calibri"/>
                <a:sym typeface="Calibri"/>
              </a:rPr>
              <a:t>Eftersom en del av bilderna faktiskt är felmärkta i grunddatan, kan ingen modell nå 100 %. Vi ligger nära det praktiska taket.</a:t>
            </a:r>
            <a:endParaRPr b="0" i="0" sz="1400" u="none" cap="none" strike="noStrike">
              <a:solidFill>
                <a:schemeClr val="dk1"/>
              </a:solidFill>
              <a:latin typeface="Calibri"/>
              <a:ea typeface="Calibri"/>
              <a:cs typeface="Calibri"/>
              <a:sym typeface="Calibri"/>
            </a:endParaRPr>
          </a:p>
        </p:txBody>
      </p:sp>
      <p:cxnSp>
        <p:nvCxnSpPr>
          <p:cNvPr id="248" name="Google Shape;248;p9"/>
          <p:cNvCxnSpPr/>
          <p:nvPr/>
        </p:nvCxnSpPr>
        <p:spPr>
          <a:xfrm>
            <a:off x="6355080" y="3611880"/>
            <a:ext cx="4892040" cy="0"/>
          </a:xfrm>
          <a:prstGeom prst="straightConnector1">
            <a:avLst/>
          </a:prstGeom>
          <a:noFill/>
          <a:ln cap="flat" cmpd="sng" w="12700">
            <a:solidFill>
              <a:srgbClr val="2E4A30"/>
            </a:solidFill>
            <a:prstDash val="solid"/>
            <a:round/>
            <a:headEnd len="sm" w="sm" type="none"/>
            <a:tailEnd len="sm" w="sm" type="none"/>
          </a:ln>
        </p:spPr>
      </p:cxnSp>
      <p:sp>
        <p:nvSpPr>
          <p:cNvPr id="249" name="Google Shape;249;p9"/>
          <p:cNvSpPr/>
          <p:nvPr/>
        </p:nvSpPr>
        <p:spPr>
          <a:xfrm>
            <a:off x="6355080" y="3794760"/>
            <a:ext cx="50292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97BC62"/>
              </a:buClr>
              <a:buSzPts val="1250"/>
              <a:buFont typeface="Calibri"/>
              <a:buNone/>
            </a:pPr>
            <a:r>
              <a:rPr b="1" i="0" lang="en-US" sz="1250" u="none" cap="none" strike="noStrike">
                <a:solidFill>
                  <a:srgbClr val="97BC62"/>
                </a:solidFill>
                <a:latin typeface="Calibri"/>
                <a:ea typeface="Calibri"/>
                <a:cs typeface="Calibri"/>
                <a:sym typeface="Calibri"/>
              </a:rPr>
              <a:t>Vad det betyder i praktiken</a:t>
            </a:r>
            <a:endParaRPr b="0" i="0" sz="1250" u="none" cap="none" strike="noStrike">
              <a:solidFill>
                <a:schemeClr val="dk1"/>
              </a:solidFill>
              <a:latin typeface="Calibri"/>
              <a:ea typeface="Calibri"/>
              <a:cs typeface="Calibri"/>
              <a:sym typeface="Calibri"/>
            </a:endParaRPr>
          </a:p>
        </p:txBody>
      </p:sp>
      <p:pic>
        <p:nvPicPr>
          <p:cNvPr descr="preencoded.png" id="250" name="Google Shape;250;p9"/>
          <p:cNvPicPr preferRelativeResize="0"/>
          <p:nvPr/>
        </p:nvPicPr>
        <p:blipFill rotWithShape="1">
          <a:blip r:embed="rId5">
            <a:alphaModFix/>
          </a:blip>
          <a:srcRect b="0" l="0" r="0" t="0"/>
          <a:stretch/>
        </p:blipFill>
        <p:spPr>
          <a:xfrm>
            <a:off x="6355080" y="4224528"/>
            <a:ext cx="201168" cy="201168"/>
          </a:xfrm>
          <a:prstGeom prst="rect">
            <a:avLst/>
          </a:prstGeom>
          <a:noFill/>
          <a:ln>
            <a:noFill/>
          </a:ln>
        </p:spPr>
      </p:pic>
      <p:sp>
        <p:nvSpPr>
          <p:cNvPr id="251" name="Google Shape;251;p9"/>
          <p:cNvSpPr/>
          <p:nvPr/>
        </p:nvSpPr>
        <p:spPr>
          <a:xfrm>
            <a:off x="6647688" y="4114800"/>
            <a:ext cx="4754880" cy="64008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D8E3D2"/>
              </a:buClr>
              <a:buSzPts val="1300"/>
              <a:buFont typeface="Calibri"/>
              <a:buNone/>
            </a:pPr>
            <a:r>
              <a:rPr b="0" i="0" lang="en-US" sz="1300" u="none" cap="none" strike="noStrike">
                <a:solidFill>
                  <a:srgbClr val="D8E3D2"/>
                </a:solidFill>
                <a:latin typeface="Calibri"/>
                <a:ea typeface="Calibri"/>
                <a:cs typeface="Calibri"/>
                <a:sym typeface="Calibri"/>
              </a:rPr>
              <a:t>Felen är koncentrerade och begripliga, inte slumpartade.</a:t>
            </a:r>
            <a:endParaRPr b="0" i="0" sz="1300" u="none" cap="none" strike="noStrike">
              <a:solidFill>
                <a:schemeClr val="dk1"/>
              </a:solidFill>
              <a:latin typeface="Calibri"/>
              <a:ea typeface="Calibri"/>
              <a:cs typeface="Calibri"/>
              <a:sym typeface="Calibri"/>
            </a:endParaRPr>
          </a:p>
        </p:txBody>
      </p:sp>
      <p:pic>
        <p:nvPicPr>
          <p:cNvPr descr="preencoded.png" id="252" name="Google Shape;252;p9"/>
          <p:cNvPicPr preferRelativeResize="0"/>
          <p:nvPr/>
        </p:nvPicPr>
        <p:blipFill rotWithShape="1">
          <a:blip r:embed="rId5">
            <a:alphaModFix/>
          </a:blip>
          <a:srcRect b="0" l="0" r="0" t="0"/>
          <a:stretch/>
        </p:blipFill>
        <p:spPr>
          <a:xfrm>
            <a:off x="6355080" y="4882896"/>
            <a:ext cx="201168" cy="201168"/>
          </a:xfrm>
          <a:prstGeom prst="rect">
            <a:avLst/>
          </a:prstGeom>
          <a:noFill/>
          <a:ln>
            <a:noFill/>
          </a:ln>
        </p:spPr>
      </p:pic>
      <p:sp>
        <p:nvSpPr>
          <p:cNvPr id="253" name="Google Shape;253;p9"/>
          <p:cNvSpPr/>
          <p:nvPr/>
        </p:nvSpPr>
        <p:spPr>
          <a:xfrm>
            <a:off x="6647688" y="4773168"/>
            <a:ext cx="4754880" cy="64008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D8E3D2"/>
              </a:buClr>
              <a:buSzPts val="1300"/>
              <a:buFont typeface="Calibri"/>
              <a:buNone/>
            </a:pPr>
            <a:r>
              <a:rPr b="0" i="0" lang="en-US" sz="1300" u="none" cap="none" strike="noStrike">
                <a:solidFill>
                  <a:srgbClr val="D8E3D2"/>
                </a:solidFill>
                <a:latin typeface="Calibri"/>
                <a:ea typeface="Calibri"/>
                <a:cs typeface="Calibri"/>
                <a:sym typeface="Calibri"/>
              </a:rPr>
              <a:t>Vill man bli bättre: rensa etiketter, inte bygga en tyngre modell.</a:t>
            </a:r>
            <a:endParaRPr b="0" i="0" sz="1300" u="none" cap="none" strike="noStrike">
              <a:solidFill>
                <a:schemeClr val="dk1"/>
              </a:solidFill>
              <a:latin typeface="Calibri"/>
              <a:ea typeface="Calibri"/>
              <a:cs typeface="Calibri"/>
              <a:sym typeface="Calibri"/>
            </a:endParaRPr>
          </a:p>
        </p:txBody>
      </p:sp>
      <p:pic>
        <p:nvPicPr>
          <p:cNvPr descr="preencoded.png" id="254" name="Google Shape;254;p9"/>
          <p:cNvPicPr preferRelativeResize="0"/>
          <p:nvPr/>
        </p:nvPicPr>
        <p:blipFill rotWithShape="1">
          <a:blip r:embed="rId5">
            <a:alphaModFix/>
          </a:blip>
          <a:srcRect b="0" l="0" r="0" t="0"/>
          <a:stretch/>
        </p:blipFill>
        <p:spPr>
          <a:xfrm>
            <a:off x="6355080" y="5541264"/>
            <a:ext cx="201168" cy="201168"/>
          </a:xfrm>
          <a:prstGeom prst="rect">
            <a:avLst/>
          </a:prstGeom>
          <a:noFill/>
          <a:ln>
            <a:noFill/>
          </a:ln>
        </p:spPr>
      </p:pic>
      <p:sp>
        <p:nvSpPr>
          <p:cNvPr id="255" name="Google Shape;255;p9"/>
          <p:cNvSpPr/>
          <p:nvPr/>
        </p:nvSpPr>
        <p:spPr>
          <a:xfrm>
            <a:off x="6647688" y="5431536"/>
            <a:ext cx="4754880" cy="640080"/>
          </a:xfrm>
          <a:prstGeom prst="rect">
            <a:avLst/>
          </a:prstGeom>
          <a:noFill/>
          <a:ln>
            <a:noFill/>
          </a:ln>
        </p:spPr>
        <p:txBody>
          <a:bodyPr anchorCtr="0" anchor="t" bIns="45700" lIns="91425" spcFirstLastPara="1" rIns="91425" wrap="square" tIns="45700">
            <a:noAutofit/>
          </a:bodyPr>
          <a:lstStyle/>
          <a:p>
            <a:pPr indent="0" lvl="0" marL="0" marR="0" rtl="0" algn="l">
              <a:lnSpc>
                <a:spcPct val="105000"/>
              </a:lnSpc>
              <a:spcBef>
                <a:spcPts val="0"/>
              </a:spcBef>
              <a:spcAft>
                <a:spcPts val="0"/>
              </a:spcAft>
              <a:buClr>
                <a:srgbClr val="D8E3D2"/>
              </a:buClr>
              <a:buSzPts val="1300"/>
              <a:buFont typeface="Calibri"/>
              <a:buNone/>
            </a:pPr>
            <a:r>
              <a:rPr b="0" i="0" lang="en-US" sz="1300" u="none" cap="none" strike="noStrike">
                <a:solidFill>
                  <a:srgbClr val="D8E3D2"/>
                </a:solidFill>
                <a:latin typeface="Calibri"/>
                <a:ea typeface="Calibri"/>
                <a:cs typeface="Calibri"/>
                <a:sym typeface="Calibri"/>
              </a:rPr>
              <a:t>För tydligt åtskilda klasser vore träffsäkerheten ännu högre.</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sp>
        <p:nvSpPr>
          <p:cNvPr id="261" name="Google Shape;261;p10"/>
          <p:cNvSpPr/>
          <p:nvPr/>
        </p:nvSpPr>
        <p:spPr>
          <a:xfrm>
            <a:off x="548640" y="457200"/>
            <a:ext cx="566928" cy="566928"/>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2" name="Google Shape;262;p10"/>
          <p:cNvPicPr preferRelativeResize="0"/>
          <p:nvPr/>
        </p:nvPicPr>
        <p:blipFill rotWithShape="1">
          <a:blip r:embed="rId3">
            <a:alphaModFix/>
          </a:blip>
          <a:srcRect b="0" l="0" r="0" t="0"/>
          <a:stretch/>
        </p:blipFill>
        <p:spPr>
          <a:xfrm>
            <a:off x="622341" y="530901"/>
            <a:ext cx="419527" cy="419527"/>
          </a:xfrm>
          <a:prstGeom prst="rect">
            <a:avLst/>
          </a:prstGeom>
          <a:noFill/>
          <a:ln>
            <a:noFill/>
          </a:ln>
        </p:spPr>
      </p:pic>
      <p:sp>
        <p:nvSpPr>
          <p:cNvPr id="263" name="Google Shape;263;p10"/>
          <p:cNvSpPr/>
          <p:nvPr/>
        </p:nvSpPr>
        <p:spPr>
          <a:xfrm>
            <a:off x="1234440" y="402336"/>
            <a:ext cx="1042416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E2A1C"/>
              </a:buClr>
              <a:buSzPts val="2700"/>
              <a:buFont typeface="Century Schoolbook"/>
              <a:buNone/>
            </a:pPr>
            <a:r>
              <a:rPr b="1" i="0" lang="en-US" sz="2700" u="none" cap="none" strike="noStrike">
                <a:solidFill>
                  <a:srgbClr val="1E2A1C"/>
                </a:solidFill>
                <a:latin typeface="Century Schoolbook"/>
                <a:ea typeface="Century Schoolbook"/>
                <a:cs typeface="Century Schoolbook"/>
                <a:sym typeface="Century Schoolbook"/>
              </a:rPr>
              <a:t>Varför detta är viktigt för företaget</a:t>
            </a:r>
            <a:endParaRPr b="0" i="0" sz="2700" u="none" cap="none" strike="noStrike">
              <a:solidFill>
                <a:schemeClr val="dk1"/>
              </a:solidFill>
              <a:latin typeface="Calibri"/>
              <a:ea typeface="Calibri"/>
              <a:cs typeface="Calibri"/>
              <a:sym typeface="Calibri"/>
            </a:endParaRPr>
          </a:p>
        </p:txBody>
      </p:sp>
      <p:sp>
        <p:nvSpPr>
          <p:cNvPr id="264" name="Google Shape;264;p10"/>
          <p:cNvSpPr/>
          <p:nvPr/>
        </p:nvSpPr>
        <p:spPr>
          <a:xfrm>
            <a:off x="548640" y="1298448"/>
            <a:ext cx="110642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1E2A1C"/>
              </a:buClr>
              <a:buSzPts val="1550"/>
              <a:buFont typeface="Calibri"/>
              <a:buNone/>
            </a:pPr>
            <a:r>
              <a:rPr b="0" i="0" lang="en-US" sz="1550" u="none" cap="none" strike="noStrike">
                <a:solidFill>
                  <a:srgbClr val="1E2A1C"/>
                </a:solidFill>
                <a:latin typeface="Calibri"/>
                <a:ea typeface="Calibri"/>
                <a:cs typeface="Calibri"/>
                <a:sym typeface="Calibri"/>
              </a:rPr>
              <a:t>Blomklassificeraren är beviset på en generell förmåga: att bygga träffsäkra bildmodeller snabbt, billigt och med lite data.</a:t>
            </a:r>
            <a:endParaRPr b="0" i="0" sz="1550" u="none" cap="none" strike="noStrike">
              <a:solidFill>
                <a:schemeClr val="dk1"/>
              </a:solidFill>
              <a:latin typeface="Calibri"/>
              <a:ea typeface="Calibri"/>
              <a:cs typeface="Calibri"/>
              <a:sym typeface="Calibri"/>
            </a:endParaRPr>
          </a:p>
        </p:txBody>
      </p:sp>
      <p:sp>
        <p:nvSpPr>
          <p:cNvPr id="265" name="Google Shape;265;p10"/>
          <p:cNvSpPr/>
          <p:nvPr/>
        </p:nvSpPr>
        <p:spPr>
          <a:xfrm>
            <a:off x="548640" y="2148840"/>
            <a:ext cx="5440680" cy="1371600"/>
          </a:xfrm>
          <a:prstGeom prst="roundRect">
            <a:avLst>
              <a:gd fmla="val 6667"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0"/>
          <p:cNvSpPr/>
          <p:nvPr/>
        </p:nvSpPr>
        <p:spPr>
          <a:xfrm>
            <a:off x="841248" y="2551176"/>
            <a:ext cx="603504" cy="603504"/>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7" name="Google Shape;267;p10"/>
          <p:cNvPicPr preferRelativeResize="0"/>
          <p:nvPr/>
        </p:nvPicPr>
        <p:blipFill rotWithShape="1">
          <a:blip r:embed="rId4">
            <a:alphaModFix/>
          </a:blip>
          <a:srcRect b="0" l="0" r="0" t="0"/>
          <a:stretch/>
        </p:blipFill>
        <p:spPr>
          <a:xfrm>
            <a:off x="919704" y="2629632"/>
            <a:ext cx="446593" cy="446593"/>
          </a:xfrm>
          <a:prstGeom prst="rect">
            <a:avLst/>
          </a:prstGeom>
          <a:noFill/>
          <a:ln>
            <a:noFill/>
          </a:ln>
        </p:spPr>
      </p:pic>
      <p:sp>
        <p:nvSpPr>
          <p:cNvPr id="268" name="Google Shape;268;p10"/>
          <p:cNvSpPr/>
          <p:nvPr/>
        </p:nvSpPr>
        <p:spPr>
          <a:xfrm>
            <a:off x="1664208" y="2350008"/>
            <a:ext cx="4160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5F2D"/>
              </a:buClr>
              <a:buSzPts val="1750"/>
              <a:buFont typeface="Century Schoolbook"/>
              <a:buNone/>
            </a:pPr>
            <a:r>
              <a:rPr b="1" i="0" lang="en-US" sz="1750" u="none" cap="none" strike="noStrike">
                <a:solidFill>
                  <a:srgbClr val="2C5F2D"/>
                </a:solidFill>
                <a:latin typeface="Century Schoolbook"/>
                <a:ea typeface="Century Schoolbook"/>
                <a:cs typeface="Century Schoolbook"/>
                <a:sym typeface="Century Schoolbook"/>
              </a:rPr>
              <a:t>Automatiserar manuellt arbete</a:t>
            </a:r>
            <a:endParaRPr b="0" i="0" sz="1750" u="none" cap="none" strike="noStrike">
              <a:solidFill>
                <a:schemeClr val="dk1"/>
              </a:solidFill>
              <a:latin typeface="Calibri"/>
              <a:ea typeface="Calibri"/>
              <a:cs typeface="Calibri"/>
              <a:sym typeface="Calibri"/>
            </a:endParaRPr>
          </a:p>
        </p:txBody>
      </p:sp>
      <p:sp>
        <p:nvSpPr>
          <p:cNvPr id="269" name="Google Shape;269;p10"/>
          <p:cNvSpPr/>
          <p:nvPr/>
        </p:nvSpPr>
        <p:spPr>
          <a:xfrm>
            <a:off x="1664208" y="2770632"/>
            <a:ext cx="416052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6000"/>
              </a:lnSpc>
              <a:spcBef>
                <a:spcPts val="0"/>
              </a:spcBef>
              <a:spcAft>
                <a:spcPts val="0"/>
              </a:spcAft>
              <a:buClr>
                <a:srgbClr val="5B6B58"/>
              </a:buClr>
              <a:buSzPts val="1300"/>
              <a:buFont typeface="Calibri"/>
              <a:buNone/>
            </a:pPr>
            <a:r>
              <a:rPr b="0" i="0" lang="en-US" sz="1300" u="none" cap="none" strike="noStrike">
                <a:solidFill>
                  <a:srgbClr val="5B6B58"/>
                </a:solidFill>
                <a:latin typeface="Calibri"/>
                <a:ea typeface="Calibri"/>
                <a:cs typeface="Calibri"/>
                <a:sym typeface="Calibri"/>
              </a:rPr>
              <a:t>Bildsortering som annars kräver personal görs på sekunder, dygnet runt.</a:t>
            </a:r>
            <a:endParaRPr b="0" i="0" sz="1300" u="none" cap="none" strike="noStrike">
              <a:solidFill>
                <a:schemeClr val="dk1"/>
              </a:solidFill>
              <a:latin typeface="Calibri"/>
              <a:ea typeface="Calibri"/>
              <a:cs typeface="Calibri"/>
              <a:sym typeface="Calibri"/>
            </a:endParaRPr>
          </a:p>
        </p:txBody>
      </p:sp>
      <p:sp>
        <p:nvSpPr>
          <p:cNvPr id="270" name="Google Shape;270;p10"/>
          <p:cNvSpPr/>
          <p:nvPr/>
        </p:nvSpPr>
        <p:spPr>
          <a:xfrm>
            <a:off x="6172200" y="2148840"/>
            <a:ext cx="5440680" cy="1371600"/>
          </a:xfrm>
          <a:prstGeom prst="roundRect">
            <a:avLst>
              <a:gd fmla="val 6667"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p:nvPr/>
        </p:nvSpPr>
        <p:spPr>
          <a:xfrm>
            <a:off x="6464808" y="2551176"/>
            <a:ext cx="603504" cy="603504"/>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2" name="Google Shape;272;p10"/>
          <p:cNvPicPr preferRelativeResize="0"/>
          <p:nvPr/>
        </p:nvPicPr>
        <p:blipFill rotWithShape="1">
          <a:blip r:embed="rId5">
            <a:alphaModFix/>
          </a:blip>
          <a:srcRect b="0" l="0" r="0" t="0"/>
          <a:stretch/>
        </p:blipFill>
        <p:spPr>
          <a:xfrm>
            <a:off x="6543264" y="2629632"/>
            <a:ext cx="446593" cy="446593"/>
          </a:xfrm>
          <a:prstGeom prst="rect">
            <a:avLst/>
          </a:prstGeom>
          <a:noFill/>
          <a:ln>
            <a:noFill/>
          </a:ln>
        </p:spPr>
      </p:pic>
      <p:sp>
        <p:nvSpPr>
          <p:cNvPr id="273" name="Google Shape;273;p10"/>
          <p:cNvSpPr/>
          <p:nvPr/>
        </p:nvSpPr>
        <p:spPr>
          <a:xfrm>
            <a:off x="7287768" y="2350008"/>
            <a:ext cx="4160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5F2D"/>
              </a:buClr>
              <a:buSzPts val="1750"/>
              <a:buFont typeface="Century Schoolbook"/>
              <a:buNone/>
            </a:pPr>
            <a:r>
              <a:rPr b="1" i="0" lang="en-US" sz="1750" u="none" cap="none" strike="noStrike">
                <a:solidFill>
                  <a:srgbClr val="2C5F2D"/>
                </a:solidFill>
                <a:latin typeface="Century Schoolbook"/>
                <a:ea typeface="Century Schoolbook"/>
                <a:cs typeface="Century Schoolbook"/>
                <a:sym typeface="Century Schoolbook"/>
              </a:rPr>
              <a:t>Kräver lite data</a:t>
            </a:r>
            <a:endParaRPr b="0" i="0" sz="1750" u="none" cap="none" strike="noStrike">
              <a:solidFill>
                <a:schemeClr val="dk1"/>
              </a:solidFill>
              <a:latin typeface="Calibri"/>
              <a:ea typeface="Calibri"/>
              <a:cs typeface="Calibri"/>
              <a:sym typeface="Calibri"/>
            </a:endParaRPr>
          </a:p>
        </p:txBody>
      </p:sp>
      <p:sp>
        <p:nvSpPr>
          <p:cNvPr id="274" name="Google Shape;274;p10"/>
          <p:cNvSpPr/>
          <p:nvPr/>
        </p:nvSpPr>
        <p:spPr>
          <a:xfrm>
            <a:off x="7287768" y="2770632"/>
            <a:ext cx="416052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6000"/>
              </a:lnSpc>
              <a:spcBef>
                <a:spcPts val="0"/>
              </a:spcBef>
              <a:spcAft>
                <a:spcPts val="0"/>
              </a:spcAft>
              <a:buClr>
                <a:srgbClr val="5B6B58"/>
              </a:buClr>
              <a:buSzPts val="1300"/>
              <a:buFont typeface="Calibri"/>
              <a:buNone/>
            </a:pPr>
            <a:r>
              <a:rPr b="0" i="0" lang="en-US" sz="1300" u="none" cap="none" strike="noStrike">
                <a:solidFill>
                  <a:srgbClr val="5B6B58"/>
                </a:solidFill>
                <a:latin typeface="Calibri"/>
                <a:ea typeface="Calibri"/>
                <a:cs typeface="Calibri"/>
                <a:sym typeface="Calibri"/>
              </a:rPr>
              <a:t>~2 500 bilder räcker</a:t>
            </a:r>
            <a:r>
              <a:rPr lang="en-US" sz="1300">
                <a:solidFill>
                  <a:srgbClr val="5B6B58"/>
                </a:solidFill>
                <a:latin typeface="Calibri"/>
                <a:ea typeface="Calibri"/>
                <a:cs typeface="Calibri"/>
                <a:sym typeface="Calibri"/>
              </a:rPr>
              <a:t>, </a:t>
            </a:r>
            <a:r>
              <a:rPr b="0" i="0" lang="en-US" sz="1300" u="none" cap="none" strike="noStrike">
                <a:solidFill>
                  <a:srgbClr val="5B6B58"/>
                </a:solidFill>
                <a:latin typeface="Calibri"/>
                <a:ea typeface="Calibri"/>
                <a:cs typeface="Calibri"/>
                <a:sym typeface="Calibri"/>
              </a:rPr>
              <a:t>inga miljontals märkta exempel behövs.</a:t>
            </a:r>
            <a:endParaRPr b="0" i="0" sz="1300" u="none" cap="none" strike="noStrike">
              <a:solidFill>
                <a:schemeClr val="dk1"/>
              </a:solidFill>
              <a:latin typeface="Calibri"/>
              <a:ea typeface="Calibri"/>
              <a:cs typeface="Calibri"/>
              <a:sym typeface="Calibri"/>
            </a:endParaRPr>
          </a:p>
        </p:txBody>
      </p:sp>
      <p:sp>
        <p:nvSpPr>
          <p:cNvPr id="275" name="Google Shape;275;p10"/>
          <p:cNvSpPr/>
          <p:nvPr/>
        </p:nvSpPr>
        <p:spPr>
          <a:xfrm>
            <a:off x="548640" y="3685032"/>
            <a:ext cx="5440680" cy="1371600"/>
          </a:xfrm>
          <a:prstGeom prst="roundRect">
            <a:avLst>
              <a:gd fmla="val 6667"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0"/>
          <p:cNvSpPr/>
          <p:nvPr/>
        </p:nvSpPr>
        <p:spPr>
          <a:xfrm>
            <a:off x="841248" y="4087368"/>
            <a:ext cx="603504" cy="603504"/>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7" name="Google Shape;277;p10"/>
          <p:cNvPicPr preferRelativeResize="0"/>
          <p:nvPr/>
        </p:nvPicPr>
        <p:blipFill rotWithShape="1">
          <a:blip r:embed="rId6">
            <a:alphaModFix/>
          </a:blip>
          <a:srcRect b="0" l="0" r="0" t="0"/>
          <a:stretch/>
        </p:blipFill>
        <p:spPr>
          <a:xfrm>
            <a:off x="919704" y="4165824"/>
            <a:ext cx="446593" cy="446593"/>
          </a:xfrm>
          <a:prstGeom prst="rect">
            <a:avLst/>
          </a:prstGeom>
          <a:noFill/>
          <a:ln>
            <a:noFill/>
          </a:ln>
        </p:spPr>
      </p:pic>
      <p:sp>
        <p:nvSpPr>
          <p:cNvPr id="278" name="Google Shape;278;p10"/>
          <p:cNvSpPr/>
          <p:nvPr/>
        </p:nvSpPr>
        <p:spPr>
          <a:xfrm>
            <a:off x="1664208" y="3886200"/>
            <a:ext cx="4160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5F2D"/>
              </a:buClr>
              <a:buSzPts val="1750"/>
              <a:buFont typeface="Century Schoolbook"/>
              <a:buNone/>
            </a:pPr>
            <a:r>
              <a:rPr b="1" i="0" lang="en-US" sz="1750" u="none" cap="none" strike="noStrike">
                <a:solidFill>
                  <a:srgbClr val="2C5F2D"/>
                </a:solidFill>
                <a:latin typeface="Century Schoolbook"/>
                <a:ea typeface="Century Schoolbook"/>
                <a:cs typeface="Century Schoolbook"/>
                <a:sym typeface="Century Schoolbook"/>
              </a:rPr>
              <a:t>Låg kostnad</a:t>
            </a:r>
            <a:endParaRPr b="0" i="0" sz="1750" u="none" cap="none" strike="noStrike">
              <a:solidFill>
                <a:schemeClr val="dk1"/>
              </a:solidFill>
              <a:latin typeface="Calibri"/>
              <a:ea typeface="Calibri"/>
              <a:cs typeface="Calibri"/>
              <a:sym typeface="Calibri"/>
            </a:endParaRPr>
          </a:p>
        </p:txBody>
      </p:sp>
      <p:sp>
        <p:nvSpPr>
          <p:cNvPr id="279" name="Google Shape;279;p10"/>
          <p:cNvSpPr/>
          <p:nvPr/>
        </p:nvSpPr>
        <p:spPr>
          <a:xfrm>
            <a:off x="1664208" y="4306824"/>
            <a:ext cx="416052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6000"/>
              </a:lnSpc>
              <a:spcBef>
                <a:spcPts val="0"/>
              </a:spcBef>
              <a:spcAft>
                <a:spcPts val="0"/>
              </a:spcAft>
              <a:buClr>
                <a:srgbClr val="5B6B58"/>
              </a:buClr>
              <a:buSzPts val="1300"/>
              <a:buFont typeface="Calibri"/>
              <a:buNone/>
            </a:pPr>
            <a:r>
              <a:rPr b="0" i="0" lang="en-US" sz="1300" u="none" cap="none" strike="noStrike">
                <a:solidFill>
                  <a:srgbClr val="5B6B58"/>
                </a:solidFill>
                <a:latin typeface="Calibri"/>
                <a:ea typeface="Calibri"/>
                <a:cs typeface="Calibri"/>
                <a:sym typeface="Calibri"/>
              </a:rPr>
              <a:t>Tränar på 20 min på en vanlig CPU. Ingen GPU, ingen dyr infrastruktur.</a:t>
            </a:r>
            <a:endParaRPr b="0" i="0" sz="1300" u="none" cap="none" strike="noStrike">
              <a:solidFill>
                <a:schemeClr val="dk1"/>
              </a:solidFill>
              <a:latin typeface="Calibri"/>
              <a:ea typeface="Calibri"/>
              <a:cs typeface="Calibri"/>
              <a:sym typeface="Calibri"/>
            </a:endParaRPr>
          </a:p>
        </p:txBody>
      </p:sp>
      <p:sp>
        <p:nvSpPr>
          <p:cNvPr id="280" name="Google Shape;280;p10"/>
          <p:cNvSpPr/>
          <p:nvPr/>
        </p:nvSpPr>
        <p:spPr>
          <a:xfrm>
            <a:off x="6172200" y="3685032"/>
            <a:ext cx="5440680" cy="1371600"/>
          </a:xfrm>
          <a:prstGeom prst="roundRect">
            <a:avLst>
              <a:gd fmla="val 6667" name="adj"/>
            </a:avLst>
          </a:prstGeom>
          <a:solidFill>
            <a:srgbClr val="F1F5EC"/>
          </a:solidFill>
          <a:ln>
            <a:noFill/>
          </a:ln>
          <a:effectLst>
            <a:outerShdw blurRad="88900" rotWithShape="0" algn="bl" dir="5400000" dist="38100">
              <a:srgbClr val="3A4A38">
                <a:alpha val="2196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p:nvPr/>
        </p:nvSpPr>
        <p:spPr>
          <a:xfrm>
            <a:off x="6464808" y="4087368"/>
            <a:ext cx="603504" cy="603504"/>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2" name="Google Shape;282;p10"/>
          <p:cNvPicPr preferRelativeResize="0"/>
          <p:nvPr/>
        </p:nvPicPr>
        <p:blipFill rotWithShape="1">
          <a:blip r:embed="rId7">
            <a:alphaModFix/>
          </a:blip>
          <a:srcRect b="0" l="0" r="0" t="0"/>
          <a:stretch/>
        </p:blipFill>
        <p:spPr>
          <a:xfrm>
            <a:off x="6543264" y="4165824"/>
            <a:ext cx="446593" cy="446593"/>
          </a:xfrm>
          <a:prstGeom prst="rect">
            <a:avLst/>
          </a:prstGeom>
          <a:noFill/>
          <a:ln>
            <a:noFill/>
          </a:ln>
        </p:spPr>
      </p:pic>
      <p:sp>
        <p:nvSpPr>
          <p:cNvPr id="283" name="Google Shape;283;p10"/>
          <p:cNvSpPr/>
          <p:nvPr/>
        </p:nvSpPr>
        <p:spPr>
          <a:xfrm>
            <a:off x="7287768" y="3886200"/>
            <a:ext cx="416052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C5F2D"/>
              </a:buClr>
              <a:buSzPts val="1750"/>
              <a:buFont typeface="Century Schoolbook"/>
              <a:buNone/>
            </a:pPr>
            <a:r>
              <a:rPr b="1" i="0" lang="en-US" sz="1750" u="none" cap="none" strike="noStrike">
                <a:solidFill>
                  <a:srgbClr val="2C5F2D"/>
                </a:solidFill>
                <a:latin typeface="Century Schoolbook"/>
                <a:ea typeface="Century Schoolbook"/>
                <a:cs typeface="Century Schoolbook"/>
                <a:sym typeface="Century Schoolbook"/>
              </a:rPr>
              <a:t>Återanvändbar metod</a:t>
            </a:r>
            <a:endParaRPr b="0" i="0" sz="1750" u="none" cap="none" strike="noStrike">
              <a:solidFill>
                <a:schemeClr val="dk1"/>
              </a:solidFill>
              <a:latin typeface="Calibri"/>
              <a:ea typeface="Calibri"/>
              <a:cs typeface="Calibri"/>
              <a:sym typeface="Calibri"/>
            </a:endParaRPr>
          </a:p>
        </p:txBody>
      </p:sp>
      <p:sp>
        <p:nvSpPr>
          <p:cNvPr id="284" name="Google Shape;284;p10"/>
          <p:cNvSpPr/>
          <p:nvPr/>
        </p:nvSpPr>
        <p:spPr>
          <a:xfrm>
            <a:off x="7287768" y="4306824"/>
            <a:ext cx="4160520" cy="658368"/>
          </a:xfrm>
          <a:prstGeom prst="rect">
            <a:avLst/>
          </a:prstGeom>
          <a:noFill/>
          <a:ln>
            <a:noFill/>
          </a:ln>
        </p:spPr>
        <p:txBody>
          <a:bodyPr anchorCtr="0" anchor="ctr" bIns="45700" lIns="91425" spcFirstLastPara="1" rIns="91425" wrap="square" tIns="45700">
            <a:noAutofit/>
          </a:bodyPr>
          <a:lstStyle/>
          <a:p>
            <a:pPr indent="0" lvl="0" marL="0" marR="0" rtl="0" algn="l">
              <a:lnSpc>
                <a:spcPct val="106000"/>
              </a:lnSpc>
              <a:spcBef>
                <a:spcPts val="0"/>
              </a:spcBef>
              <a:spcAft>
                <a:spcPts val="0"/>
              </a:spcAft>
              <a:buClr>
                <a:srgbClr val="5B6B58"/>
              </a:buClr>
              <a:buSzPts val="1300"/>
              <a:buFont typeface="Calibri"/>
              <a:buNone/>
            </a:pPr>
            <a:r>
              <a:rPr b="0" i="0" lang="en-US" sz="1300" u="none" cap="none" strike="noStrike">
                <a:solidFill>
                  <a:srgbClr val="5B6B58"/>
                </a:solidFill>
                <a:latin typeface="Calibri"/>
                <a:ea typeface="Calibri"/>
                <a:cs typeface="Calibri"/>
                <a:sym typeface="Calibri"/>
              </a:rPr>
              <a:t>Byt bara ut bilderna</a:t>
            </a:r>
            <a:r>
              <a:rPr lang="en-US" sz="1300">
                <a:solidFill>
                  <a:srgbClr val="5B6B58"/>
                </a:solidFill>
                <a:latin typeface="Calibri"/>
                <a:ea typeface="Calibri"/>
                <a:cs typeface="Calibri"/>
                <a:sym typeface="Calibri"/>
              </a:rPr>
              <a:t>, </a:t>
            </a:r>
            <a:r>
              <a:rPr b="0" i="0" lang="en-US" sz="1300" u="none" cap="none" strike="noStrike">
                <a:solidFill>
                  <a:srgbClr val="5B6B58"/>
                </a:solidFill>
                <a:latin typeface="Calibri"/>
                <a:ea typeface="Calibri"/>
                <a:cs typeface="Calibri"/>
                <a:sym typeface="Calibri"/>
              </a:rPr>
              <a:t>klassantal, namn och utdata anpassar sig automatiskt.</a:t>
            </a:r>
            <a:endParaRPr b="0" i="0" sz="1300" u="none" cap="none" strike="noStrike">
              <a:solidFill>
                <a:schemeClr val="dk1"/>
              </a:solidFill>
              <a:latin typeface="Calibri"/>
              <a:ea typeface="Calibri"/>
              <a:cs typeface="Calibri"/>
              <a:sym typeface="Calibri"/>
            </a:endParaRPr>
          </a:p>
        </p:txBody>
      </p:sp>
      <p:sp>
        <p:nvSpPr>
          <p:cNvPr id="285" name="Google Shape;285;p10"/>
          <p:cNvSpPr/>
          <p:nvPr/>
        </p:nvSpPr>
        <p:spPr>
          <a:xfrm>
            <a:off x="548640" y="5349240"/>
            <a:ext cx="11091672" cy="914400"/>
          </a:xfrm>
          <a:prstGeom prst="roundRect">
            <a:avLst>
              <a:gd fmla="val 10000" name="adj"/>
            </a:avLst>
          </a:prstGeom>
          <a:solidFill>
            <a:srgbClr val="1733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0"/>
          <p:cNvSpPr/>
          <p:nvPr/>
        </p:nvSpPr>
        <p:spPr>
          <a:xfrm>
            <a:off x="822960" y="5349240"/>
            <a:ext cx="1051560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97BC62"/>
              </a:buClr>
              <a:buSzPts val="1450"/>
              <a:buFont typeface="Calibri"/>
              <a:buNone/>
            </a:pPr>
            <a:r>
              <a:rPr b="1" i="0" lang="en-US" sz="1450" u="none" cap="none" strike="noStrike">
                <a:solidFill>
                  <a:srgbClr val="97BC62"/>
                </a:solidFill>
                <a:latin typeface="Calibri"/>
                <a:ea typeface="Calibri"/>
                <a:cs typeface="Calibri"/>
                <a:sym typeface="Calibri"/>
              </a:rPr>
              <a:t>Samma pipeline, andra bilder:  </a:t>
            </a:r>
            <a:r>
              <a:rPr b="0" i="0" lang="en-US" sz="1450" u="none" cap="none" strike="noStrike">
                <a:solidFill>
                  <a:srgbClr val="FFFFFF"/>
                </a:solidFill>
                <a:latin typeface="Calibri"/>
                <a:ea typeface="Calibri"/>
                <a:cs typeface="Calibri"/>
                <a:sym typeface="Calibri"/>
              </a:rPr>
              <a:t>produktkategorisering  ·  kvalitetskontroll i produktion  ·  defektdetektering  ·  sortering av dokument och skador.</a:t>
            </a:r>
            <a:endParaRPr b="0" i="0" sz="14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331A"/>
        </a:solidFill>
      </p:bgPr>
    </p:bg>
    <p:spTree>
      <p:nvGrpSpPr>
        <p:cNvPr id="291" name="Shape 291"/>
        <p:cNvGrpSpPr/>
        <p:nvPr/>
      </p:nvGrpSpPr>
      <p:grpSpPr>
        <a:xfrm>
          <a:off x="0" y="0"/>
          <a:ext cx="0" cy="0"/>
          <a:chOff x="0" y="0"/>
          <a:chExt cx="0" cy="0"/>
        </a:xfrm>
      </p:grpSpPr>
      <p:sp>
        <p:nvSpPr>
          <p:cNvPr id="292" name="Google Shape;292;p11"/>
          <p:cNvSpPr/>
          <p:nvPr/>
        </p:nvSpPr>
        <p:spPr>
          <a:xfrm>
            <a:off x="9875520" y="-1280160"/>
            <a:ext cx="4206240" cy="4206240"/>
          </a:xfrm>
          <a:prstGeom prst="ellipse">
            <a:avLst/>
          </a:prstGeom>
          <a:solidFill>
            <a:srgbClr val="2C5F2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3" name="Google Shape;293;p11"/>
          <p:cNvPicPr preferRelativeResize="0"/>
          <p:nvPr/>
        </p:nvPicPr>
        <p:blipFill rotWithShape="1">
          <a:blip r:embed="rId3">
            <a:alphaModFix/>
          </a:blip>
          <a:srcRect b="0" l="0" r="0" t="0"/>
          <a:stretch/>
        </p:blipFill>
        <p:spPr>
          <a:xfrm>
            <a:off x="10744200" y="502920"/>
            <a:ext cx="1371600" cy="1371600"/>
          </a:xfrm>
          <a:prstGeom prst="rect">
            <a:avLst/>
          </a:prstGeom>
          <a:noFill/>
          <a:ln>
            <a:noFill/>
          </a:ln>
        </p:spPr>
      </p:pic>
      <p:sp>
        <p:nvSpPr>
          <p:cNvPr id="294" name="Google Shape;294;p11"/>
          <p:cNvSpPr/>
          <p:nvPr/>
        </p:nvSpPr>
        <p:spPr>
          <a:xfrm>
            <a:off x="658368" y="640080"/>
            <a:ext cx="822960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400"/>
              <a:buFont typeface="Century Schoolbook"/>
              <a:buNone/>
            </a:pPr>
            <a:r>
              <a:rPr b="1" i="0" lang="en-US" sz="3400" u="none" cap="none" strike="noStrike">
                <a:solidFill>
                  <a:srgbClr val="FFFFFF"/>
                </a:solidFill>
                <a:latin typeface="Century Schoolbook"/>
                <a:ea typeface="Century Schoolbook"/>
                <a:cs typeface="Century Schoolbook"/>
                <a:sym typeface="Century Schoolbook"/>
              </a:rPr>
              <a:t>Sammanfattning</a:t>
            </a:r>
            <a:endParaRPr b="0" i="0" sz="3400" u="none" cap="none" strike="noStrike">
              <a:solidFill>
                <a:schemeClr val="dk1"/>
              </a:solidFill>
              <a:latin typeface="Calibri"/>
              <a:ea typeface="Calibri"/>
              <a:cs typeface="Calibri"/>
              <a:sym typeface="Calibri"/>
            </a:endParaRPr>
          </a:p>
        </p:txBody>
      </p:sp>
      <p:sp>
        <p:nvSpPr>
          <p:cNvPr id="295" name="Google Shape;295;p11"/>
          <p:cNvSpPr/>
          <p:nvPr/>
        </p:nvSpPr>
        <p:spPr>
          <a:xfrm>
            <a:off x="658368" y="1691640"/>
            <a:ext cx="566928" cy="566928"/>
          </a:xfrm>
          <a:prstGeom prst="ellipse">
            <a:avLst/>
          </a:prstGeom>
          <a:solidFill>
            <a:srgbClr val="97BC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a:off x="658368" y="1691640"/>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7331A"/>
              </a:buClr>
              <a:buSzPts val="2400"/>
              <a:buFont typeface="Century Schoolbook"/>
              <a:buNone/>
            </a:pPr>
            <a:r>
              <a:rPr b="1" i="0" lang="en-US" sz="2400" u="none" cap="none" strike="noStrike">
                <a:solidFill>
                  <a:srgbClr val="17331A"/>
                </a:solidFill>
                <a:latin typeface="Century Schoolbook"/>
                <a:ea typeface="Century Schoolbook"/>
                <a:cs typeface="Century Schoolbook"/>
                <a:sym typeface="Century Schoolbook"/>
              </a:rPr>
              <a:t>1</a:t>
            </a:r>
            <a:endParaRPr b="0" i="0" sz="2400" u="none" cap="none" strike="noStrike">
              <a:solidFill>
                <a:schemeClr val="dk1"/>
              </a:solidFill>
              <a:latin typeface="Calibri"/>
              <a:ea typeface="Calibri"/>
              <a:cs typeface="Calibri"/>
              <a:sym typeface="Calibri"/>
            </a:endParaRPr>
          </a:p>
        </p:txBody>
      </p:sp>
      <p:sp>
        <p:nvSpPr>
          <p:cNvPr id="297" name="Google Shape;297;p11"/>
          <p:cNvSpPr/>
          <p:nvPr/>
        </p:nvSpPr>
        <p:spPr>
          <a:xfrm>
            <a:off x="1463040" y="1636776"/>
            <a:ext cx="96926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entury Schoolbook"/>
              <a:buNone/>
            </a:pPr>
            <a:r>
              <a:rPr b="1" i="0" lang="en-US" sz="2000" u="none" cap="none" strike="noStrike">
                <a:solidFill>
                  <a:srgbClr val="FFFFFF"/>
                </a:solidFill>
                <a:latin typeface="Century Schoolbook"/>
                <a:ea typeface="Century Schoolbook"/>
                <a:cs typeface="Century Schoolbook"/>
                <a:sym typeface="Century Schoolbook"/>
              </a:rPr>
              <a:t>Transfer learning löste uppgiften</a:t>
            </a:r>
            <a:endParaRPr b="0" i="0" sz="2000" u="none" cap="none" strike="noStrike">
              <a:solidFill>
                <a:schemeClr val="dk1"/>
              </a:solidFill>
              <a:latin typeface="Calibri"/>
              <a:ea typeface="Calibri"/>
              <a:cs typeface="Calibri"/>
              <a:sym typeface="Calibri"/>
            </a:endParaRPr>
          </a:p>
        </p:txBody>
      </p:sp>
      <p:sp>
        <p:nvSpPr>
          <p:cNvPr id="298" name="Google Shape;298;p11"/>
          <p:cNvSpPr/>
          <p:nvPr/>
        </p:nvSpPr>
        <p:spPr>
          <a:xfrm>
            <a:off x="1463040" y="2075688"/>
            <a:ext cx="969264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C9D6C2"/>
              </a:buClr>
              <a:buSzPts val="1400"/>
              <a:buFont typeface="Calibri"/>
              <a:buNone/>
            </a:pPr>
            <a:r>
              <a:rPr b="0" i="0" lang="en-US" sz="1400" u="none" cap="none" strike="noStrike">
                <a:solidFill>
                  <a:srgbClr val="C9D6C2"/>
                </a:solidFill>
                <a:latin typeface="Calibri"/>
                <a:ea typeface="Calibri"/>
                <a:cs typeface="Calibri"/>
                <a:sym typeface="Calibri"/>
              </a:rPr>
              <a:t>Vi återanvände EfficientNetV2B0 (ImageNet), frös ryggraden, tränade en liten topp och finjusterade sedan de översta lagren.</a:t>
            </a:r>
            <a:endParaRPr b="0" i="0" sz="1400" u="none" cap="none" strike="noStrike">
              <a:solidFill>
                <a:schemeClr val="dk1"/>
              </a:solidFill>
              <a:latin typeface="Calibri"/>
              <a:ea typeface="Calibri"/>
              <a:cs typeface="Calibri"/>
              <a:sym typeface="Calibri"/>
            </a:endParaRPr>
          </a:p>
        </p:txBody>
      </p:sp>
      <p:sp>
        <p:nvSpPr>
          <p:cNvPr id="299" name="Google Shape;299;p11"/>
          <p:cNvSpPr/>
          <p:nvPr/>
        </p:nvSpPr>
        <p:spPr>
          <a:xfrm>
            <a:off x="658368" y="2862072"/>
            <a:ext cx="566928" cy="566928"/>
          </a:xfrm>
          <a:prstGeom prst="ellipse">
            <a:avLst/>
          </a:prstGeom>
          <a:solidFill>
            <a:srgbClr val="97BC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658368" y="2862072"/>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7331A"/>
              </a:buClr>
              <a:buSzPts val="2400"/>
              <a:buFont typeface="Century Schoolbook"/>
              <a:buNone/>
            </a:pPr>
            <a:r>
              <a:rPr b="1" i="0" lang="en-US" sz="2400" u="none" cap="none" strike="noStrike">
                <a:solidFill>
                  <a:srgbClr val="17331A"/>
                </a:solidFill>
                <a:latin typeface="Century Schoolbook"/>
                <a:ea typeface="Century Schoolbook"/>
                <a:cs typeface="Century Schoolbook"/>
                <a:sym typeface="Century Schoolbook"/>
              </a:rPr>
              <a:t>2</a:t>
            </a:r>
            <a:endParaRPr b="0" i="0" sz="2400" u="none" cap="none" strike="noStrike">
              <a:solidFill>
                <a:schemeClr val="dk1"/>
              </a:solidFill>
              <a:latin typeface="Calibri"/>
              <a:ea typeface="Calibri"/>
              <a:cs typeface="Calibri"/>
              <a:sym typeface="Calibri"/>
            </a:endParaRPr>
          </a:p>
        </p:txBody>
      </p:sp>
      <p:sp>
        <p:nvSpPr>
          <p:cNvPr id="301" name="Google Shape;301;p11"/>
          <p:cNvSpPr/>
          <p:nvPr/>
        </p:nvSpPr>
        <p:spPr>
          <a:xfrm>
            <a:off x="1463040" y="2807208"/>
            <a:ext cx="96926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entury Schoolbook"/>
              <a:buNone/>
            </a:pPr>
            <a:r>
              <a:rPr b="1" i="0" lang="en-US" sz="2000" u="none" cap="none" strike="noStrike">
                <a:solidFill>
                  <a:srgbClr val="FFFFFF"/>
                </a:solidFill>
                <a:latin typeface="Century Schoolbook"/>
                <a:ea typeface="Century Schoolbook"/>
                <a:cs typeface="Century Schoolbook"/>
                <a:sym typeface="Century Schoolbook"/>
              </a:rPr>
              <a:t>95,59 % på osedd testdata</a:t>
            </a:r>
            <a:endParaRPr b="0" i="0" sz="2000" u="none" cap="none" strike="noStrike">
              <a:solidFill>
                <a:schemeClr val="dk1"/>
              </a:solidFill>
              <a:latin typeface="Calibri"/>
              <a:ea typeface="Calibri"/>
              <a:cs typeface="Calibri"/>
              <a:sym typeface="Calibri"/>
            </a:endParaRPr>
          </a:p>
        </p:txBody>
      </p:sp>
      <p:sp>
        <p:nvSpPr>
          <p:cNvPr id="302" name="Google Shape;302;p11"/>
          <p:cNvSpPr/>
          <p:nvPr/>
        </p:nvSpPr>
        <p:spPr>
          <a:xfrm>
            <a:off x="1463040" y="3246120"/>
            <a:ext cx="969264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C9D6C2"/>
              </a:buClr>
              <a:buSzPts val="1400"/>
              <a:buFont typeface="Calibri"/>
              <a:buNone/>
            </a:pPr>
            <a:r>
              <a:rPr b="0" i="0" lang="en-US" sz="1400" u="none" cap="none" strike="noStrike">
                <a:solidFill>
                  <a:srgbClr val="C9D6C2"/>
                </a:solidFill>
                <a:latin typeface="Calibri"/>
                <a:ea typeface="Calibri"/>
                <a:cs typeface="Calibri"/>
                <a:sym typeface="Calibri"/>
              </a:rPr>
              <a:t>520 av 544 bilder rätt</a:t>
            </a:r>
            <a:r>
              <a:rPr lang="en-US">
                <a:solidFill>
                  <a:srgbClr val="C9D6C2"/>
                </a:solidFill>
                <a:latin typeface="Calibri"/>
                <a:ea typeface="Calibri"/>
                <a:cs typeface="Calibri"/>
                <a:sym typeface="Calibri"/>
              </a:rPr>
              <a:t> </a:t>
            </a:r>
            <a:r>
              <a:rPr b="0" i="0" lang="en-US" sz="1400" u="none" cap="none" strike="noStrike">
                <a:solidFill>
                  <a:srgbClr val="C9D6C2"/>
                </a:solidFill>
                <a:latin typeface="Calibri"/>
                <a:ea typeface="Calibri"/>
                <a:cs typeface="Calibri"/>
                <a:sym typeface="Calibri"/>
              </a:rPr>
              <a:t>på en vanlig CPU, på ~20 minuter.</a:t>
            </a:r>
            <a:endParaRPr b="0" i="0" sz="1400" u="none" cap="none" strike="noStrike">
              <a:solidFill>
                <a:schemeClr val="dk1"/>
              </a:solidFill>
              <a:latin typeface="Calibri"/>
              <a:ea typeface="Calibri"/>
              <a:cs typeface="Calibri"/>
              <a:sym typeface="Calibri"/>
            </a:endParaRPr>
          </a:p>
        </p:txBody>
      </p:sp>
      <p:sp>
        <p:nvSpPr>
          <p:cNvPr id="303" name="Google Shape;303;p11"/>
          <p:cNvSpPr/>
          <p:nvPr/>
        </p:nvSpPr>
        <p:spPr>
          <a:xfrm>
            <a:off x="658368" y="4032504"/>
            <a:ext cx="566928" cy="566928"/>
          </a:xfrm>
          <a:prstGeom prst="ellipse">
            <a:avLst/>
          </a:prstGeom>
          <a:solidFill>
            <a:srgbClr val="97BC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658368" y="4032504"/>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7331A"/>
              </a:buClr>
              <a:buSzPts val="2400"/>
              <a:buFont typeface="Century Schoolbook"/>
              <a:buNone/>
            </a:pPr>
            <a:r>
              <a:rPr b="1" i="0" lang="en-US" sz="2400" u="none" cap="none" strike="noStrike">
                <a:solidFill>
                  <a:srgbClr val="17331A"/>
                </a:solidFill>
                <a:latin typeface="Century Schoolbook"/>
                <a:ea typeface="Century Schoolbook"/>
                <a:cs typeface="Century Schoolbook"/>
                <a:sym typeface="Century Schoolbook"/>
              </a:rPr>
              <a:t>3</a:t>
            </a:r>
            <a:endParaRPr b="0" i="0" sz="2400" u="none" cap="none" strike="noStrike">
              <a:solidFill>
                <a:schemeClr val="dk1"/>
              </a:solidFill>
              <a:latin typeface="Calibri"/>
              <a:ea typeface="Calibri"/>
              <a:cs typeface="Calibri"/>
              <a:sym typeface="Calibri"/>
            </a:endParaRPr>
          </a:p>
        </p:txBody>
      </p:sp>
      <p:sp>
        <p:nvSpPr>
          <p:cNvPr id="305" name="Google Shape;305;p11"/>
          <p:cNvSpPr/>
          <p:nvPr/>
        </p:nvSpPr>
        <p:spPr>
          <a:xfrm>
            <a:off x="1463040" y="3977640"/>
            <a:ext cx="96926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entury Schoolbook"/>
              <a:buNone/>
            </a:pPr>
            <a:r>
              <a:rPr b="1" i="0" lang="en-US" sz="2000" u="none" cap="none" strike="noStrike">
                <a:solidFill>
                  <a:srgbClr val="FFFFFF"/>
                </a:solidFill>
                <a:latin typeface="Century Schoolbook"/>
                <a:ea typeface="Century Schoolbook"/>
                <a:cs typeface="Century Schoolbook"/>
                <a:sym typeface="Century Schoolbook"/>
              </a:rPr>
              <a:t>Ryggraden var nyckeln</a:t>
            </a:r>
            <a:endParaRPr b="0" i="0" sz="2000" u="none" cap="none" strike="noStrike">
              <a:solidFill>
                <a:schemeClr val="dk1"/>
              </a:solidFill>
              <a:latin typeface="Calibri"/>
              <a:ea typeface="Calibri"/>
              <a:cs typeface="Calibri"/>
              <a:sym typeface="Calibri"/>
            </a:endParaRPr>
          </a:p>
        </p:txBody>
      </p:sp>
      <p:sp>
        <p:nvSpPr>
          <p:cNvPr id="306" name="Google Shape;306;p11"/>
          <p:cNvSpPr/>
          <p:nvPr/>
        </p:nvSpPr>
        <p:spPr>
          <a:xfrm>
            <a:off x="1463040" y="4416552"/>
            <a:ext cx="969264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C9D6C2"/>
              </a:buClr>
              <a:buSzPts val="1400"/>
              <a:buFont typeface="Calibri"/>
              <a:buNone/>
            </a:pPr>
            <a:r>
              <a:rPr b="0" i="0" lang="en-US" sz="1400" u="none" cap="none" strike="noStrike">
                <a:solidFill>
                  <a:srgbClr val="C9D6C2"/>
                </a:solidFill>
                <a:latin typeface="Calibri"/>
                <a:ea typeface="Calibri"/>
                <a:cs typeface="Calibri"/>
                <a:sym typeface="Calibri"/>
              </a:rPr>
              <a:t>Bytet av basmodell gav 40 % färre fel. Kvaliteten på de förtränade features slog varje justering av toppen.</a:t>
            </a:r>
            <a:endParaRPr b="0" i="0" sz="1400" u="none" cap="none" strike="noStrike">
              <a:solidFill>
                <a:schemeClr val="dk1"/>
              </a:solidFill>
              <a:latin typeface="Calibri"/>
              <a:ea typeface="Calibri"/>
              <a:cs typeface="Calibri"/>
              <a:sym typeface="Calibri"/>
            </a:endParaRPr>
          </a:p>
        </p:txBody>
      </p:sp>
      <p:sp>
        <p:nvSpPr>
          <p:cNvPr id="307" name="Google Shape;307;p11"/>
          <p:cNvSpPr/>
          <p:nvPr/>
        </p:nvSpPr>
        <p:spPr>
          <a:xfrm>
            <a:off x="658368" y="5202936"/>
            <a:ext cx="566928" cy="566928"/>
          </a:xfrm>
          <a:prstGeom prst="ellipse">
            <a:avLst/>
          </a:prstGeom>
          <a:solidFill>
            <a:srgbClr val="97BC6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658368" y="5202936"/>
            <a:ext cx="566928" cy="56692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7331A"/>
              </a:buClr>
              <a:buSzPts val="2400"/>
              <a:buFont typeface="Century Schoolbook"/>
              <a:buNone/>
            </a:pPr>
            <a:r>
              <a:rPr b="1" i="0" lang="en-US" sz="2400" u="none" cap="none" strike="noStrike">
                <a:solidFill>
                  <a:srgbClr val="17331A"/>
                </a:solidFill>
                <a:latin typeface="Century Schoolbook"/>
                <a:ea typeface="Century Schoolbook"/>
                <a:cs typeface="Century Schoolbook"/>
                <a:sym typeface="Century Schoolbook"/>
              </a:rPr>
              <a:t>4</a:t>
            </a:r>
            <a:endParaRPr b="0" i="0" sz="2400" u="none" cap="none" strike="noStrike">
              <a:solidFill>
                <a:schemeClr val="dk1"/>
              </a:solidFill>
              <a:latin typeface="Calibri"/>
              <a:ea typeface="Calibri"/>
              <a:cs typeface="Calibri"/>
              <a:sym typeface="Calibri"/>
            </a:endParaRPr>
          </a:p>
        </p:txBody>
      </p:sp>
      <p:sp>
        <p:nvSpPr>
          <p:cNvPr id="309" name="Google Shape;309;p11"/>
          <p:cNvSpPr/>
          <p:nvPr/>
        </p:nvSpPr>
        <p:spPr>
          <a:xfrm>
            <a:off x="1463040" y="5148072"/>
            <a:ext cx="96926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entury Schoolbook"/>
              <a:buNone/>
            </a:pPr>
            <a:r>
              <a:rPr b="1" i="0" lang="en-US" sz="2000" u="none" cap="none" strike="noStrike">
                <a:solidFill>
                  <a:srgbClr val="FFFFFF"/>
                </a:solidFill>
                <a:latin typeface="Century Schoolbook"/>
                <a:ea typeface="Century Schoolbook"/>
                <a:cs typeface="Century Schoolbook"/>
                <a:sym typeface="Century Schoolbook"/>
              </a:rPr>
              <a:t>En billig, generell förmåga</a:t>
            </a:r>
            <a:endParaRPr b="0" i="0" sz="2000" u="none" cap="none" strike="noStrike">
              <a:solidFill>
                <a:schemeClr val="dk1"/>
              </a:solidFill>
              <a:latin typeface="Calibri"/>
              <a:ea typeface="Calibri"/>
              <a:cs typeface="Calibri"/>
              <a:sym typeface="Calibri"/>
            </a:endParaRPr>
          </a:p>
        </p:txBody>
      </p:sp>
      <p:sp>
        <p:nvSpPr>
          <p:cNvPr id="310" name="Google Shape;310;p11"/>
          <p:cNvSpPr/>
          <p:nvPr/>
        </p:nvSpPr>
        <p:spPr>
          <a:xfrm>
            <a:off x="1463040" y="5586984"/>
            <a:ext cx="9692640" cy="68580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C9D6C2"/>
              </a:buClr>
              <a:buSzPts val="1400"/>
              <a:buFont typeface="Calibri"/>
              <a:buNone/>
            </a:pPr>
            <a:r>
              <a:rPr b="0" i="0" lang="en-US" sz="1400" u="none" cap="none" strike="noStrike">
                <a:solidFill>
                  <a:srgbClr val="C9D6C2"/>
                </a:solidFill>
                <a:latin typeface="Calibri"/>
                <a:ea typeface="Calibri"/>
                <a:cs typeface="Calibri"/>
                <a:sym typeface="Calibri"/>
              </a:rPr>
              <a:t>Metoden generaliserar långt bortom blommor</a:t>
            </a:r>
            <a:r>
              <a:rPr lang="en-US">
                <a:solidFill>
                  <a:srgbClr val="C9D6C2"/>
                </a:solidFill>
                <a:latin typeface="Calibri"/>
                <a:ea typeface="Calibri"/>
                <a:cs typeface="Calibri"/>
                <a:sym typeface="Calibri"/>
              </a:rPr>
              <a:t>,</a:t>
            </a:r>
            <a:r>
              <a:rPr b="0" i="0" lang="en-US" sz="1400" u="none" cap="none" strike="noStrike">
                <a:solidFill>
                  <a:srgbClr val="C9D6C2"/>
                </a:solidFill>
                <a:latin typeface="Calibri"/>
                <a:ea typeface="Calibri"/>
                <a:cs typeface="Calibri"/>
                <a:sym typeface="Calibri"/>
              </a:rPr>
              <a:t> byt bilderna och företaget har en ny bildmodell på minuter.</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2026-08-17T11:04:54Z</dcterms:created>
  <dc:creator>PptxGenJS</dc:creator>
</cp:coreProperties>
</file>